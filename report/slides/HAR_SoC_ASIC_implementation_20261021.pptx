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cd549220284a22" /><Relationship Type="http://schemas.openxmlformats.org/officeDocument/2006/relationships/extended-properties" Target="/docProps/app.xml" Id="R88fcb7f616ab481d" /><Relationship Type="http://schemas.openxmlformats.org/officeDocument/2006/relationships/officeDocument" Target="/ppt/presentation.xml" Id="R589e01e0ed9b46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9ba70b4c35416d"/>
  </p:sldMasterIdLst>
  <p:notesMasterIdLst>
    <p:notesMasterId xmlns:r="http://schemas.openxmlformats.org/officeDocument/2006/relationships" r:id="R6be4589dff9642a8"/>
  </p:notesMasterIdLst>
  <p:sldIdLst>
    <p:sldId xmlns:r="http://schemas.openxmlformats.org/officeDocument/2006/relationships" id="256" r:id="Rd83c9cee851b44db"/>
    <p:sldId xmlns:r="http://schemas.openxmlformats.org/officeDocument/2006/relationships" id="257" r:id="Rfa24a9cdc06841dd"/>
    <p:sldId xmlns:r="http://schemas.openxmlformats.org/officeDocument/2006/relationships" id="258" r:id="Rbc9a947dd1344ce5"/>
    <p:sldId xmlns:r="http://schemas.openxmlformats.org/officeDocument/2006/relationships" id="259" r:id="Re61685a5d1824ae8"/>
    <p:sldId xmlns:r="http://schemas.openxmlformats.org/officeDocument/2006/relationships" id="260" r:id="R30e54c203dcf4c3d"/>
    <p:sldId xmlns:r="http://schemas.openxmlformats.org/officeDocument/2006/relationships" id="261" r:id="R7ab11bccf8c8498a"/>
    <p:sldId xmlns:r="http://schemas.openxmlformats.org/officeDocument/2006/relationships" id="262" r:id="R2184818af7b443e9"/>
    <p:sldId xmlns:r="http://schemas.openxmlformats.org/officeDocument/2006/relationships" id="263" r:id="R6edb245a62db4bc6"/>
    <p:sldId xmlns:r="http://schemas.openxmlformats.org/officeDocument/2006/relationships" id="264" r:id="R4e146be227ba4437"/>
    <p:sldId xmlns:r="http://schemas.openxmlformats.org/officeDocument/2006/relationships" id="265" r:id="R1de0286a46354438"/>
    <p:sldId xmlns:r="http://schemas.openxmlformats.org/officeDocument/2006/relationships" id="266" r:id="R9f7aec69d1e64fa2"/>
    <p:sldId xmlns:r="http://schemas.openxmlformats.org/officeDocument/2006/relationships" id="267" r:id="Rb860c6728f034793"/>
    <p:sldId xmlns:r="http://schemas.openxmlformats.org/officeDocument/2006/relationships" id="268" r:id="Rdfbba8ac99c04cdd"/>
    <p:sldId xmlns:r="http://schemas.openxmlformats.org/officeDocument/2006/relationships" id="269" r:id="Rf6be39965f5643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57747faa8f4ec7" /><Relationship Type="http://schemas.openxmlformats.org/officeDocument/2006/relationships/slideMaster" Target="/ppt/slideMasters/slideMaster1.xml" Id="Rff9ba70b4c35416d" /><Relationship Type="http://schemas.openxmlformats.org/officeDocument/2006/relationships/notesMaster" Target="/ppt/notesMasters/notesMaster1.xml" Id="R6be4589dff9642a8" /><Relationship Type="http://schemas.openxmlformats.org/officeDocument/2006/relationships/presProps" Target="/ppt/presProps.xml" Id="R4598312fc9504de0" /><Relationship Type="http://schemas.openxmlformats.org/officeDocument/2006/relationships/tableStyles" Target="/ppt/tableStyles.xml" Id="R90f11f48bab945c1" /><Relationship Type="http://schemas.openxmlformats.org/officeDocument/2006/relationships/slide" Target="/ppt/slides/slide1.xml" Id="Rd83c9cee851b44db" /><Relationship Type="http://schemas.openxmlformats.org/officeDocument/2006/relationships/slide" Target="/ppt/slides/slide2.xml" Id="Rfa24a9cdc06841dd" /><Relationship Type="http://schemas.openxmlformats.org/officeDocument/2006/relationships/slide" Target="/ppt/slides/slide3.xml" Id="Rbc9a947dd1344ce5" /><Relationship Type="http://schemas.openxmlformats.org/officeDocument/2006/relationships/slide" Target="/ppt/slides/slide4.xml" Id="Re61685a5d1824ae8" /><Relationship Type="http://schemas.openxmlformats.org/officeDocument/2006/relationships/slide" Target="/ppt/slides/slide5.xml" Id="R30e54c203dcf4c3d" /><Relationship Type="http://schemas.openxmlformats.org/officeDocument/2006/relationships/slide" Target="/ppt/slides/slide6.xml" Id="R7ab11bccf8c8498a" /><Relationship Type="http://schemas.openxmlformats.org/officeDocument/2006/relationships/slide" Target="/ppt/slides/slide7.xml" Id="R2184818af7b443e9" /><Relationship Type="http://schemas.openxmlformats.org/officeDocument/2006/relationships/slide" Target="/ppt/slides/slide8.xml" Id="R6edb245a62db4bc6" /><Relationship Type="http://schemas.openxmlformats.org/officeDocument/2006/relationships/slide" Target="/ppt/slides/slide9.xml" Id="R4e146be227ba4437" /><Relationship Type="http://schemas.openxmlformats.org/officeDocument/2006/relationships/slide" Target="/ppt/slides/slide10.xml" Id="R1de0286a46354438" /><Relationship Type="http://schemas.openxmlformats.org/officeDocument/2006/relationships/slide" Target="/ppt/slides/slide11.xml" Id="R9f7aec69d1e64fa2" /><Relationship Type="http://schemas.openxmlformats.org/officeDocument/2006/relationships/slide" Target="/ppt/slides/slide12.xml" Id="Rb860c6728f034793" /><Relationship Type="http://schemas.openxmlformats.org/officeDocument/2006/relationships/slide" Target="/ppt/slides/slide13.xml" Id="Rdfbba8ac99c04cdd" /><Relationship Type="http://schemas.openxmlformats.org/officeDocument/2006/relationships/slide" Target="/ppt/slides/slide14.xml" Id="Rf6be39965f5643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20136b84e14d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9d503477284340" /><Relationship Type="http://schemas.openxmlformats.org/officeDocument/2006/relationships/notesMaster" Target="/ppt/notesMasters/notesMaster1.xml" Id="R564beda1af7842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ead0478db64f1d" /><Relationship Type="http://schemas.openxmlformats.org/officeDocument/2006/relationships/notesMaster" Target="/ppt/notesMasters/notesMaster1.xml" Id="R56bcc991a56a4f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be900057964298" /><Relationship Type="http://schemas.openxmlformats.org/officeDocument/2006/relationships/notesMaster" Target="/ppt/notesMasters/notesMaster1.xml" Id="R17f7781ca7cd48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7615d630d7438e" /><Relationship Type="http://schemas.openxmlformats.org/officeDocument/2006/relationships/notesMaster" Target="/ppt/notesMasters/notesMaster1.xml" Id="R9062322203da44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fe41cf256c4df4" /><Relationship Type="http://schemas.openxmlformats.org/officeDocument/2006/relationships/notesMaster" Target="/ppt/notesMasters/notesMaster1.xml" Id="R2ff4234d8e1d4a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f5b3397ec94b65" /><Relationship Type="http://schemas.openxmlformats.org/officeDocument/2006/relationships/notesMaster" Target="/ppt/notesMasters/notesMaster1.xml" Id="R8fa629d6beae42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cea4eda4344df3" /><Relationship Type="http://schemas.openxmlformats.org/officeDocument/2006/relationships/notesMaster" Target="/ppt/notesMasters/notesMaster1.xml" Id="Rc60b133017c84a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f89444691f4fc1" /><Relationship Type="http://schemas.openxmlformats.org/officeDocument/2006/relationships/notesMaster" Target="/ppt/notesMasters/notesMaster1.xml" Id="Raf9206a10f7149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9eda45d16a4d23" /><Relationship Type="http://schemas.openxmlformats.org/officeDocument/2006/relationships/notesMaster" Target="/ppt/notesMasters/notesMaster1.xml" Id="R647dea834c2745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77fb11bcc8460a" /><Relationship Type="http://schemas.openxmlformats.org/officeDocument/2006/relationships/notesMaster" Target="/ppt/notesMasters/notesMaster1.xml" Id="Rb6b95f82b995413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0c5f0a8eb0471e" /><Relationship Type="http://schemas.openxmlformats.org/officeDocument/2006/relationships/notesMaster" Target="/ppt/notesMasters/notesMaster1.xml" Id="Re05bc79bdd9744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f1e4de47b74c47" /><Relationship Type="http://schemas.openxmlformats.org/officeDocument/2006/relationships/notesMaster" Target="/ppt/notesMasters/notesMaster1.xml" Id="Rb97f0ed2abe24b2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64291872d2e4364" /><Relationship Type="http://schemas.openxmlformats.org/officeDocument/2006/relationships/notesMaster" Target="/ppt/notesMasters/notesMaster1.xml" Id="Ref789cd285fe477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3f7fd28798b45fc" /><Relationship Type="http://schemas.openxmlformats.org/officeDocument/2006/relationships/notesMaster" Target="/ppt/notesMasters/notesMaster1.xml" Id="R09321235049741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项目证据：eda/pnr/RESULTS.md</a:t>
            </a:r>
          </a:p>
          <a:p xmlns:a="http://schemas.openxmlformats.org/drawingml/2006/main">
            <a:r>
              <a:t>项目证据：eda/RESULTS.md</a:t>
            </a:r>
          </a:p>
          <a:p xmlns:a="http://schemas.openxmlformats.org/drawingml/2006/main">
            <a:r>
              <a:t>项目证据：test/2026-10-21/pnr/summary.json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项目证据：eda/README.md</a:t>
            </a:r>
          </a:p>
          <a:p xmlns:a="http://schemas.openxmlformats.org/drawingml/2006/main">
            <a:r>
              <a:t>项目证据：eda/pnr/RESULTS.md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项目证据：README.md</a:t>
            </a:r>
          </a:p>
          <a:p xmlns:a="http://schemas.openxmlformats.org/drawingml/2006/main">
            <a:r>
              <a:t>项目证据：report/architecture.md</a:t>
            </a:r>
          </a:p>
          <a:p xmlns:a="http://schemas.openxmlformats.org/drawingml/2006/main">
            <a:r>
              <a:t>项目证据：eda/pnr/RESULTS.md</a:t>
            </a:r>
          </a:p>
          <a:p xmlns:a="http://schemas.openxmlformats.org/drawingml/2006/main">
            <a:r>
              <a:t>项目证据：eda/BOOT_PROTOCOL.md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项目证据：eda/BOOT_PROTOCOL.md</a:t>
            </a:r>
          </a:p>
          <a:p xmlns:a="http://schemas.openxmlformats.org/drawingml/2006/main">
            <a:r>
              <a:t>项目证据：eda/RESULTS.md</a:t>
            </a:r>
          </a:p>
          <a:p xmlns:a="http://schemas.openxmlformats.org/drawingml/2006/main">
            <a:r>
              <a:t>项目证据：rtl/memory/bootram.sv</a:t>
            </a:r>
          </a:p>
          <a:p xmlns:a="http://schemas.openxmlformats.org/drawingml/2006/main">
            <a:r>
              <a:t>项目证据：rtl/soc/my_soc_top.sv</a:t>
            </a:r>
          </a:p>
          <a:p xmlns:a="http://schemas.openxmlformats.org/drawingml/2006/main">
            <a:r>
              <a:t>原综合后 SDF 失败记录为 445 条 removal，修复后最终版本重跑通过；与后续布线后启动的 3 条 setup 问题分开。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项目证据：eda/RESULTS.md</a:t>
            </a:r>
          </a:p>
          <a:p xmlns:a="http://schemas.openxmlformats.org/drawingml/2006/main">
            <a:r>
              <a:t>项目证据：test/2026-10-21/asic/summary.json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项目证据：eda/pnr/RESULTS.md</a:t>
            </a:r>
          </a:p>
          <a:p xmlns:a="http://schemas.openxmlformats.org/drawingml/2006/main">
            <a:r>
              <a:t>项目证据：preview/soc-postcts-layout.json</a:t>
            </a:r>
          </a:p>
          <a:p xmlns:a="http://schemas.openxmlformats.org/drawingml/2006/main">
            <a:r>
              <a:t>项目证据：preview/soc-postcts-layout.png</a:t>
            </a:r>
          </a:p>
          <a:p xmlns:a="http://schemas.openxmlformats.org/drawingml/2006/main">
            <a:r>
              <a:t>图为实际 post-CTS DEF/LEF 几何渲染。不能据此声称是 Innovus GUI 截图或制造实物照片。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项目证据：eda/pnr/RESULTS.md</a:t>
            </a:r>
          </a:p>
          <a:p xmlns:a="http://schemas.openxmlformats.org/drawingml/2006/main">
            <a:r>
              <a:t>项目证据：preview/soc-postroute-layout.json</a:t>
            </a:r>
          </a:p>
          <a:p xmlns:a="http://schemas.openxmlformats.org/drawingml/2006/main">
            <a:r>
              <a:t>项目证据：preview/soc-postroute-layout.png</a:t>
            </a:r>
          </a:p>
          <a:p xmlns:a="http://schemas.openxmlformats.org/drawingml/2006/main">
            <a:r>
              <a:t>最终 DEF SHA256 70b8db7c5d28260f9e44b762aa8661e9d64bd1ba3818f80a683e96e9d183b7bc。图内信号线仅抽样绘制，非制造 GDS 的完整金属形状。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项目证据：eda/pnr/RESULTS.md</a:t>
            </a:r>
          </a:p>
          <a:p xmlns:a="http://schemas.openxmlformats.org/drawingml/2006/main">
            <a:r>
              <a:t>项目证据：test/2026-10-21/pnr/summary.json</a:t>
            </a:r>
          </a:p>
          <a:p xmlns:a="http://schemas.openxmlformats.org/drawingml/2006/main">
            <a:r>
              <a:t>项目证据：physical_audit_fixed.json</a:t>
            </a:r>
          </a:p>
          <a:p xmlns:a="http://schemas.openxmlformats.org/drawingml/2006/main">
            <a:r>
              <a:t>项目证据：joint_audit.json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项目证据：eda/pnr/RESULTS.md</a:t>
            </a:r>
          </a:p>
          <a:p xmlns:a="http://schemas.openxmlformats.org/drawingml/2006/main">
            <a:r>
              <a:t>项目证据：sdf-pair-filter-diff.json</a:t>
            </a:r>
          </a:p>
          <a:p xmlns:a="http://schemas.openxmlformats.org/drawingml/2006/main">
            <a:r>
              <a:t>项目证据：caint-readiness.json</a:t>
            </a:r>
          </a:p>
          <a:p xmlns:a="http://schemas.openxmlformats.org/drawingml/2006/main">
            <a:r>
              <a:t>项目证据：constraint-coverage-audit.json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项目证据：eda/BOOT_PROTOCOL.md</a:t>
            </a:r>
          </a:p>
          <a:p xmlns:a="http://schemas.openxmlformats.org/drawingml/2006/main">
            <a:r>
              <a:t>项目证据：eda/pnr/RESULTS.md</a:t>
            </a:r>
          </a:p>
          <a:p xmlns:a="http://schemas.openxmlformats.org/drawingml/2006/main">
            <a:r>
              <a:t>项目证据：test/2026-10-21/pnr/summary.json</a:t>
            </a:r>
          </a:p>
          <a:p xmlns:a="http://schemas.openxmlformats.org/drawingml/2006/main">
            <a:r>
              <a:t>旧 MAX 基线最初约 12 ns 出现 1 条 ICG E setup 与 2 条 SE setup，严格为 FAIL。最终仅派生测试台的时钟发生器区域，原 TB/RTL/FW 保持原字节，未强制内部节点初始化，未关闭时序检查。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项目证据：test/2026-10-21/pnr/summary.json</a:t>
            </a:r>
          </a:p>
          <a:p xmlns:a="http://schemas.openxmlformats.org/drawingml/2006/main">
            <a:r>
              <a:t>项目证据：acceptance.json</a:t>
            </a:r>
          </a:p>
          <a:p xmlns:a="http://schemas.openxmlformats.org/drawingml/2006/main">
            <a:r>
              <a:t>项目证据：final-independent-dynamic-review.json</a:t>
            </a:r>
          </a:p>
          <a:p xmlns:a="http://schemas.openxmlformats.org/drawingml/2006/main">
            <a:r>
              <a:t>所有四场景都逐条核对真实 DMI CSV 的 2048 个程序字写入及回读，completion 序列 [0,c0dec0de,0,c0dec0de]。DMA metric 0..4 为 1872/6960/36342/2708/34371，2708 是累计 DMA busy 周期，不是一次 NPU 推理延时。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项目证据：final-placement-area.json</a:t>
            </a:r>
          </a:p>
          <a:p xmlns:a="http://schemas.openxmlformats.org/drawingml/2006/main">
            <a:r>
              <a:t>项目证据：test/2026-10-21/pnr/summary.json</a:t>
            </a:r>
          </a:p>
          <a:p xmlns:a="http://schemas.openxmlformats.org/drawingml/2006/main">
            <a:r>
              <a:t>项目证据：eda/pnr/RESULTS.md</a:t>
            </a:r>
          </a:p>
          <a:p xmlns:a="http://schemas.openxmlformats.org/drawingml/2006/main">
            <a:r>
              <a:t>以下为最终 DEF 实例 LEF SIZE 矩形面积，排除 filler/tap。NPU 3.4541713472、CPU .3547377344、DMA .0594328448、其他逻辑 .4677685824、SRAM .40144359075 mm²，合计4.73755409955。与 Genus Liberty 映射面积口径不同。NPU 权重 bank 保持标准单元实现。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项目证据：eda/pnr/RESULTS.md</a:t>
            </a:r>
          </a:p>
          <a:p xmlns:a="http://schemas.openxmlformats.org/drawingml/2006/main">
            <a:r>
              <a:t>项目证据：eda/BOOT_PROTOCOL.md</a:t>
            </a:r>
          </a:p>
          <a:p xmlns:a="http://schemas.openxmlformats.org/drawingml/2006/main">
            <a:r>
              <a:t>项目证据：test/2026-10-21/pnr/summary.json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项目证据：eda/pnr/README.md</a:t>
            </a:r>
          </a:p>
          <a:p xmlns:a="http://schemas.openxmlformats.org/drawingml/2006/main">
            <a:r>
              <a:t>项目证据：eda/README.md</a:t>
            </a:r>
          </a:p>
          <a:p xmlns:a="http://schemas.openxmlformats.org/drawingml/2006/main">
            <a:r>
              <a:t>项目证据：deliverables/chip-design-pnr-20261021/integrity-verification.json</a:t>
            </a:r>
          </a:p>
          <a:p xmlns:a="http://schemas.openxmlformats.org/drawingml/2006/main">
            <a:r>
              <a:t>最终证据包 chip-design-pnr-20261021-evidence-v2.tar.gz，770696502 bytes，SHA256 76895175ceab6715e4bbb5bf3fd7413b89a7a4bc88ab7561d92c69b5e002bb82。原始工艺库文件不进入Git/交付包。13个checkpoint 130项材料链接在CHECKPOINT_MATERIALS_REQUIRED.json中记录原路径、目标路径、bytes和SHA。</a:t>
            </a:r>
          </a:p>
          <a:p xmlns:a="http://schemas.openxmlformats.org/drawingml/2006/main">
            <a:r>
              <a:t>项目基线：52be8c57b365b70536500526a52905352e505666 + bootwait/resetfall working tree。未声明已推送新Git提交。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9ff8d7fa5a44e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f7e3e2d70a496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2f11febc764fc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09c1fa090e4c6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805eac0f474a2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4c1c7d9fa24e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CE8FC1-3B25-4664-8379-40B17620C4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8DD7405-36FF-4918-BEA6-4606318FB3A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C27FABC-8CBF-4018-95CC-AA8377353F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F5C50A-3D40-4525-9540-93C2290C9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1F0AEC0-E20B-460D-8127-E6BD237CBE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D21211-3747-4877-860A-3A4E75042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84E95F2-24CF-4E6C-A303-561C3DABA3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C5C23AF-8E90-439E-90F3-684226664C6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F6EAD2-7B58-46EC-BE6C-39FDC78528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CD3427-55FA-42A5-9F60-B87523C7C7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bd94bafcbb4311" /><Relationship Type="http://schemas.openxmlformats.org/officeDocument/2006/relationships/slideLayout" Target="/ppt/slideLayouts/slideLayout1.xml" Id="R5f10c7be9f23450c" /><Relationship Type="http://schemas.openxmlformats.org/officeDocument/2006/relationships/slideLayout" Target="/ppt/slideLayouts/slideLayout2.xml" Id="Rbd91d37176ed4b74" /><Relationship Type="http://schemas.openxmlformats.org/officeDocument/2006/relationships/slideLayout" Target="/ppt/slideLayouts/slideLayout3.xml" Id="R993019d588044303" /><Relationship Type="http://schemas.openxmlformats.org/officeDocument/2006/relationships/slideLayout" Target="/ppt/slideLayouts/slideLayout4.xml" Id="Rd01a6bdb44244e4b" /><Relationship Type="http://schemas.openxmlformats.org/officeDocument/2006/relationships/slideLayout" Target="/ppt/slideLayouts/slideLayout5.xml" Id="R86a36823eace4843" /><Relationship Type="http://schemas.openxmlformats.org/officeDocument/2006/relationships/slideLayout" Target="/ppt/slideLayouts/slideLayout6.xml" Id="R8126bc52e4ba40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10c7be9f23450c"/>
    <p:sldLayoutId xmlns:r="http://schemas.openxmlformats.org/officeDocument/2006/relationships" id="2147483650" r:id="Rbd91d37176ed4b74"/>
    <p:sldLayoutId xmlns:r="http://schemas.openxmlformats.org/officeDocument/2006/relationships" id="2147483651" r:id="R993019d588044303"/>
    <p:sldLayoutId xmlns:r="http://schemas.openxmlformats.org/officeDocument/2006/relationships" id="2147483652" r:id="Rd01a6bdb44244e4b"/>
    <p:sldLayoutId xmlns:r="http://schemas.openxmlformats.org/officeDocument/2006/relationships" id="2147483653" r:id="R86a36823eace4843"/>
    <p:sldLayoutId xmlns:r="http://schemas.openxmlformats.org/officeDocument/2006/relationships" id="2147483654" r:id="R8126bc52e4ba40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29c4397991444e" /><Relationship Type="http://schemas.openxmlformats.org/officeDocument/2006/relationships/notesSlide" Target="/ppt/notesSlides/notesSlide1.xml" Id="R569a861c43c246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cfe123f6c3480d" /><Relationship Type="http://schemas.openxmlformats.org/officeDocument/2006/relationships/notesSlide" Target="/ppt/notesSlides/notesSlide2.xml" Id="Rd5f0831cb08c46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5b94ed30e14345" /><Relationship Type="http://schemas.openxmlformats.org/officeDocument/2006/relationships/notesSlide" Target="/ppt/notesSlides/notesSlide3.xml" Id="Rc476307457614f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104eaae7a94cd7" /><Relationship Type="http://schemas.openxmlformats.org/officeDocument/2006/relationships/notesSlide" Target="/ppt/notesSlides/notesSlide4.xml" Id="Rc730a79738a743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b726889bbf4c4a" /><Relationship Type="http://schemas.openxmlformats.org/officeDocument/2006/relationships/notesSlide" Target="/ppt/notesSlides/notesSlide5.xml" Id="R24a6d00a8a0e4c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53a049178840ca" /><Relationship Type="http://schemas.openxmlformats.org/officeDocument/2006/relationships/image" Target="/ppt/media/image.png" Id="R4293780f45064a8e" /><Relationship Type="http://schemas.openxmlformats.org/officeDocument/2006/relationships/notesSlide" Target="/ppt/notesSlides/notesSlide6.xml" Id="R6b996ffe4d8442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551d58f8e24918" /><Relationship Type="http://schemas.openxmlformats.org/officeDocument/2006/relationships/image" Target="/ppt/media/image2.png" Id="R3ebce5125e4b495a" /><Relationship Type="http://schemas.openxmlformats.org/officeDocument/2006/relationships/notesSlide" Target="/ppt/notesSlides/notesSlide7.xml" Id="Rbc6fea8721fb4d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06e84172e5416a" /><Relationship Type="http://schemas.openxmlformats.org/officeDocument/2006/relationships/notesSlide" Target="/ppt/notesSlides/notesSlide8.xml" Id="R51e5be8584ea48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b6b5ec9e134d89" /><Relationship Type="http://schemas.openxmlformats.org/officeDocument/2006/relationships/notesSlide" Target="/ppt/notesSlides/notesSlide9.xml" Id="R4cd69a53a54344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e25d26006240d5" /><Relationship Type="http://schemas.openxmlformats.org/officeDocument/2006/relationships/notesSlide" Target="/ppt/notesSlides/notesSlide10.xml" Id="R66f3f8dea73045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4ed24571e8406f" /><Relationship Type="http://schemas.openxmlformats.org/officeDocument/2006/relationships/notesSlide" Target="/ppt/notesSlides/notesSlide11.xml" Id="Rf73e45033c2f47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4473b7447140a9" /><Relationship Type="http://schemas.openxmlformats.org/officeDocument/2006/relationships/chart" Target="/ppt/slides/charts/chart1.xml" Id="R7b3e7cb62d714265" /><Relationship Type="http://schemas.openxmlformats.org/officeDocument/2006/relationships/notesSlide" Target="/ppt/notesSlides/notesSlide12.xml" Id="Rb281b838284148e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7aa13751f74807" /><Relationship Type="http://schemas.openxmlformats.org/officeDocument/2006/relationships/notesSlide" Target="/ppt/notesSlides/notesSlide13.xml" Id="R44b405752f8b4db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b6eadaaed34f27" /><Relationship Type="http://schemas.openxmlformats.org/officeDocument/2006/relationships/notesSlide" Target="/ppt/notesSlides/notesSlide14.xml" Id="Rff75b64a6d954bd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放置矩形面积（mm²）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solidFill>
                <a:srgbClr val="152B43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放置矩形面积</c:v>
          </c:tx>
          <c:spPr>
            <a:solidFill xmlns:a="http://schemas.openxmlformats.org/drawingml/2006/main">
              <a:srgbClr val="087F8C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NPU</c:v>
                </c:pt>
                <c:pt idx="1">
                  <c:v>CPU</c:v>
                </c:pt>
                <c:pt idx="2">
                  <c:v>DMA</c:v>
                </c:pt>
                <c:pt idx="3">
                  <c:v>其他逻辑</c:v>
                </c:pt>
                <c:pt idx="4">
                  <c:v>SRAM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3.4541713472</c:v>
                </c:pt>
                <c:pt idx="1">
                  <c:v>0.3547377344</c:v>
                </c:pt>
                <c:pt idx="2">
                  <c:v>0.0594328448</c:v>
                </c:pt>
                <c:pt idx="3">
                  <c:v>0.4677685824</c:v>
                </c:pt>
                <c:pt idx="4">
                  <c:v>0.40144359075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52B4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E0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E0E7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8FAFC"/>
        </a:solidFill>
      </c:spPr>
    </c:plotArea>
    <c:plotVisOnly val="1"/>
  </c:chart>
  <c:spPr>
    <a:solidFill xmlns:a="http://schemas.openxmlformats.org/drawingml/2006/main">
      <a:srgbClr val="F8FAFC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605299F7-70DC-44E2-A75E-82EAE6A7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HAR SoC">
            <a:extLst xmlns:a="http://schemas.openxmlformats.org/drawingml/2006/main">
              <a:ext uri="{FF2B5EF4-FFF2-40B4-BE49-F238E27FC236}">
                <a16:creationId xmlns:a16="http://schemas.microsoft.com/office/drawing/2014/main" id="{C8DBA7D1-789C-4A5D-8491-AEDDE05D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HAR SoC</a:t>
            </a:r>
          </a:p>
        </p:txBody>
      </p:sp>
      <p:sp>
        <p:nvSpPr>
          <p:cNvPr id="3" name="ASIC 实现与验证">
            <a:extLst xmlns:a="http://schemas.openxmlformats.org/drawingml/2006/main">
              <a:ext uri="{FF2B5EF4-FFF2-40B4-BE49-F238E27FC236}">
                <a16:creationId xmlns:a16="http://schemas.microsoft.com/office/drawing/2014/main" id="{D5FFA4E5-D973-48BC-995C-40267ED0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ASIC 实现与验证</a:t>
            </a:r>
          </a:p>
        </p:txBody>
      </p:sp>
      <p:sp>
        <p:nvSpPr>
          <p:cNvPr id="4" name="完整 SoC 的综合、CTS、布线与 SDF 后仿">
            <a:extLst xmlns:a="http://schemas.openxmlformats.org/drawingml/2006/main">
              <a:ext uri="{FF2B5EF4-FFF2-40B4-BE49-F238E27FC236}">
                <a16:creationId xmlns:a16="http://schemas.microsoft.com/office/drawing/2014/main" id="{CE59F291-C7AC-40BB-B626-1A402CBC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CAE4E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CAE4E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CAE4E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CAE4E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CAE4E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CAE4E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CAE4E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CAE4E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CAE4E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CAE4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CAE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CAE4E8"/>
                </a:solidFill>
                <a:latin typeface="Microsoft YaHei"/>
                <a:ea typeface="Microsoft YaHei"/>
                <a:cs typeface="Microsoft YaHei"/>
              </a:rPr>
              <a:t>完整 SoC 的综合、CTS、布线与 SDF 后仿</a:t>
            </a:r>
          </a:p>
        </p:txBody>
      </p:sp>
      <p:sp>
        <p:nvSpPr>
          <p:cNvPr id="5" name="芯片课程项目汇报">
            <a:extLst xmlns:a="http://schemas.openxmlformats.org/drawingml/2006/main">
              <a:ext uri="{FF2B5EF4-FFF2-40B4-BE49-F238E27FC236}">
                <a16:creationId xmlns:a16="http://schemas.microsoft.com/office/drawing/2014/main" id="{14DA7292-AC27-4770-A6F0-899A6983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芯片课程项目汇报</a:t>
            </a:r>
          </a:p>
        </p:txBody>
      </p:sp>
      <p:sp>
        <p:nvSpPr>
          <p:cNvPr id="6" name="2026 年 10 月 21 日">
            <a:extLst xmlns:a="http://schemas.openxmlformats.org/drawingml/2006/main">
              <a:ext uri="{FF2B5EF4-FFF2-40B4-BE49-F238E27FC236}">
                <a16:creationId xmlns:a16="http://schemas.microsoft.com/office/drawing/2014/main" id="{01CD235C-29EF-4FF0-BDD3-242F1F2F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43575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B5CDD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B5CDD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B5CDD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B5CDD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B5CDD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B5CDD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B5CDD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B5CDD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B5CDD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B5CDD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5CD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5CDD8"/>
                </a:solidFill>
                <a:latin typeface="Microsoft YaHei"/>
                <a:ea typeface="Microsoft YaHei"/>
                <a:cs typeface="Microsoft YaHei"/>
              </a:rPr>
              <a:t>2026 年 10 月 21 日</a:t>
            </a:r>
          </a:p>
        </p:txBody>
      </p:sp>
    </p:spTree>
    <p:extLst>
      <p:ext uri="{BB962C8B-B14F-4D97-AF65-F5344CB8AC3E}">
        <p14:creationId xmlns:p14="http://schemas.microsoft.com/office/powerpoint/2010/main" val="14519480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本轮工作范围">
            <a:extLst xmlns:a="http://schemas.openxmlformats.org/drawingml/2006/main">
              <a:ext uri="{FF2B5EF4-FFF2-40B4-BE49-F238E27FC236}">
                <a16:creationId xmlns:a16="http://schemas.microsoft.com/office/drawing/2014/main" id="{6606F2D8-8F01-43BA-A12D-D56E9E71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本轮工作范围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C6194FEF-D3EA-4C32-A10B-AA32DC74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DC646897-1851-4158-917D-8185F0F2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742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启动与复位">
            <a:extLst xmlns:a="http://schemas.openxmlformats.org/drawingml/2006/main">
              <a:ext uri="{FF2B5EF4-FFF2-40B4-BE49-F238E27FC236}">
                <a16:creationId xmlns:a16="http://schemas.microsoft.com/office/drawing/2014/main" id="{D4C296E3-F9ED-418D-8D00-23F5982E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381125"/>
            <a:ext cx="300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启动与复位</a:t>
            </a:r>
          </a:p>
        </p:txBody>
      </p:sp>
      <p:sp>
        <p:nvSpPr>
          <p:cNvPr id="5" name="修复 boot RAM 等待机制与复位释放时序">
            <a:extLst xmlns:a="http://schemas.openxmlformats.org/drawingml/2006/main">
              <a:ext uri="{FF2B5EF4-FFF2-40B4-BE49-F238E27FC236}">
                <a16:creationId xmlns:a16="http://schemas.microsoft.com/office/drawing/2014/main" id="{A0DA0C4C-4564-4353-A6E3-48B368B5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40970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修复 boot RAM 等待机制与复位释放时序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02F1D2BA-30F7-4104-9A45-A2BEDA14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742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综合与前后仿">
            <a:extLst xmlns:a="http://schemas.openxmlformats.org/drawingml/2006/main">
              <a:ext uri="{FF2B5EF4-FFF2-40B4-BE49-F238E27FC236}">
                <a16:creationId xmlns:a16="http://schemas.microsoft.com/office/drawing/2014/main" id="{E7DABFB7-FE9C-49E4-A781-D097D445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05075"/>
            <a:ext cx="300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综合与前后仿</a:t>
            </a:r>
          </a:p>
        </p:txBody>
      </p:sp>
      <p:sp>
        <p:nvSpPr>
          <p:cNvPr id="8" name="RTL、映射网表和综合后 SDF 分别验收">
            <a:extLst xmlns:a="http://schemas.openxmlformats.org/drawingml/2006/main">
              <a:ext uri="{FF2B5EF4-FFF2-40B4-BE49-F238E27FC236}">
                <a16:creationId xmlns:a16="http://schemas.microsoft.com/office/drawing/2014/main" id="{1CC2F0F5-D46D-4A65-AB46-F31B6471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3365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RTL、映射网表和综合后 SDF 分别验收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1DC198BB-EBC8-4F39-9EE3-C8BF1BEC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742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物理实现">
            <a:extLst xmlns:a="http://schemas.openxmlformats.org/drawingml/2006/main">
              <a:ext uri="{FF2B5EF4-FFF2-40B4-BE49-F238E27FC236}">
                <a16:creationId xmlns:a16="http://schemas.microsoft.com/office/drawing/2014/main" id="{981583D3-68BE-4FD7-9B41-72453DEA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29025"/>
            <a:ext cx="300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物理实现</a:t>
            </a:r>
          </a:p>
        </p:txBody>
      </p:sp>
      <p:sp>
        <p:nvSpPr>
          <p:cNvPr id="11" name="完成 Floorplan、IO、电源、布局、CTS 和布线">
            <a:extLst xmlns:a="http://schemas.openxmlformats.org/drawingml/2006/main">
              <a:ext uri="{FF2B5EF4-FFF2-40B4-BE49-F238E27FC236}">
                <a16:creationId xmlns:a16="http://schemas.microsoft.com/office/drawing/2014/main" id="{211D4E46-1F88-48CD-A366-19C5B5DB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5760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完成 Floorplan、IO、电源、布局、CTS 和布线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809CDCF1-4A17-41A1-9345-D74E2106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742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最终验收">
            <a:extLst xmlns:a="http://schemas.openxmlformats.org/drawingml/2006/main">
              <a:ext uri="{FF2B5EF4-FFF2-40B4-BE49-F238E27FC236}">
                <a16:creationId xmlns:a16="http://schemas.microsoft.com/office/drawing/2014/main" id="{F05B903D-C447-4D5E-AA96-5F7D4326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52975"/>
            <a:ext cx="300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最终验收</a:t>
            </a:r>
          </a:p>
        </p:txBody>
      </p:sp>
      <p:sp>
        <p:nvSpPr>
          <p:cNvPr id="14" name="检查提取后时序、物理连接与四组完整后仿">
            <a:extLst xmlns:a="http://schemas.openxmlformats.org/drawingml/2006/main">
              <a:ext uri="{FF2B5EF4-FFF2-40B4-BE49-F238E27FC236}">
                <a16:creationId xmlns:a16="http://schemas.microsoft.com/office/drawing/2014/main" id="{390252B7-0A52-40CA-9AF9-04385786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78155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检查提取后时序、物理连接与四组完整后仿</a:t>
            </a:r>
          </a:p>
        </p:txBody>
      </p:sp>
      <p:sp>
        <p:nvSpPr>
          <p:cNvPr id="15" name="CPU 与 NPU 沿用项目现有实现，本轮聚焦 ASIC 集">
            <a:extLst xmlns:a="http://schemas.openxmlformats.org/drawingml/2006/main">
              <a:ext uri="{FF2B5EF4-FFF2-40B4-BE49-F238E27FC236}">
                <a16:creationId xmlns:a16="http://schemas.microsoft.com/office/drawing/2014/main" id="{8ABDF658-C48A-49B9-99E8-49C32829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rPr>
              <a:t>CPU 与 NPU 沿用项目现有实现，本轮聚焦 ASIC 集成、启动修复与验证</a:t>
            </a:r>
          </a:p>
        </p:txBody>
      </p:sp>
    </p:spTree>
    <p:extLst>
      <p:ext uri="{BB962C8B-B14F-4D97-AF65-F5344CB8AC3E}">
        <p14:creationId xmlns:p14="http://schemas.microsoft.com/office/powerpoint/2010/main" val="13072898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oC 结构与验证条件">
            <a:extLst xmlns:a="http://schemas.openxmlformats.org/drawingml/2006/main">
              <a:ext uri="{FF2B5EF4-FFF2-40B4-BE49-F238E27FC236}">
                <a16:creationId xmlns:a16="http://schemas.microsoft.com/office/drawing/2014/main" id="{0F4FFD82-A18C-411D-9423-4AF678FE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SoC 结构与验证条件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D5CC1CD4-EEA4-4BB6-8D82-56942DB1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01059-3F50-4EA9-A3E1-B56398E557B7}"/>
              </a:ext>
            </a:extLst>
          </p:cNvPr>
          <p:cNvGraphicFramePr/>
          <p:nvPr/>
        </p:nvGraphicFramePr>
        <p:xfrm>
          <a:off xmlns:a="http://schemas.openxmlformats.org/drawingml/2006/main" x="609600" y="1323975"/>
          <a:ext xmlns:a="http://schemas.openxmlformats.org/drawingml/2006/main" cx="10972800" cy="4114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8877300"/>
              </a:tblGrid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</a:t>
                      </a:r>
                    </a:p>
                  </a:txBody>
                  <a:tcPr marL="152400" marR="152400" marT="114300" marB="95250">
                    <a:lnL w="6668">
                      <a:solidFill>
                        <a:srgbClr val="D5E0E7"/>
                      </a:solidFill>
                      <a:prstDash val="solid"/>
                    </a:lnL>
                    <a:lnR w="6668">
                      <a:solidFill>
                        <a:srgbClr val="D5E0E7"/>
                      </a:solidFill>
                      <a:prstDash val="solid"/>
                    </a:lnR>
                    <a:lnT w="6668">
                      <a:solidFill>
                        <a:srgbClr val="D5E0E7"/>
                      </a:solidFill>
                      <a:prstDash val="solid"/>
                    </a:lnT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15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当前实现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T w="6668">
                      <a:solidFill>
                        <a:srgbClr val="D5E0E7"/>
                      </a:solidFill>
                      <a:prstDash val="solid"/>
                    </a:lnT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152B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CPU</a:t>
                      </a:r>
                    </a:p>
                  </a:txBody>
                  <a:tcPr marL="152400" marR="152400" marT="114300" marB="95250">
                    <a:lnL w="6668">
                      <a:solidFill>
                        <a:srgbClr val="D5E0E7"/>
                      </a:solidFill>
                      <a:prstDash val="solid"/>
                    </a:lnL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 CV32E40P RISC-V 核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NPU</a:t>
                      </a:r>
                    </a:p>
                  </a:txBody>
                  <a:tcPr marL="152400" marR="152400" marT="114300" marB="95250">
                    <a:lnL w="6668">
                      <a:solidFill>
                        <a:srgbClr val="D5E0E7"/>
                      </a:solidFill>
                      <a:prstDash val="solid"/>
                    </a:lnL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INT8 64–32–6 MLP，两个 FC1 tile、一个 FC2 tile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权重与搬运</a:t>
                      </a:r>
                    </a:p>
                  </a:txBody>
                  <a:tcPr marL="152400" marR="152400" marT="114300" marB="95250">
                    <a:lnL w="6668">
                      <a:solidFill>
                        <a:srgbClr val="D5E0E7"/>
                      </a:solidFill>
                      <a:prstDash val="solid"/>
                    </a:lnL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 个同步权重 bank，AXI DMA 搬运数据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主存</a:t>
                      </a:r>
                    </a:p>
                  </a:txBody>
                  <a:tcPr marL="152400" marR="152400" marT="114300" marB="95250">
                    <a:lnL w="6668">
                      <a:solidFill>
                        <a:srgbClr val="D5E0E7"/>
                      </a:solidFill>
                      <a:prstDash val="solid"/>
                    </a:lnL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2048 × 32 bit SRAM 宏，容量 8 KiB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控制与下载</a:t>
                      </a:r>
                    </a:p>
                  </a:txBody>
                  <a:tcPr marL="152400" marR="152400" marT="114300" marB="95250">
                    <a:lnL w="6668">
                      <a:solidFill>
                        <a:srgbClr val="D5E0E7"/>
                      </a:solidFill>
                      <a:prstDash val="solid"/>
                    </a:lnL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CPU 通过 MMIO 控制 NPU，JTAG 装载并回读程序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SMC180 TT，25 ℃。系统周期 20 ns，JTA">
            <a:extLst xmlns:a="http://schemas.openxmlformats.org/drawingml/2006/main">
              <a:ext uri="{FF2B5EF4-FFF2-40B4-BE49-F238E27FC236}">
                <a16:creationId xmlns:a16="http://schemas.microsoft.com/office/drawing/2014/main" id="{17556714-A095-48A4-B3E0-FCE7909E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rPr>
              <a:t>TSMC180 TT，25 ℃。系统周期 20 ns，JTAG 周期 100 ns</a:t>
            </a:r>
          </a:p>
        </p:txBody>
      </p:sp>
      <p:sp>
        <p:nvSpPr>
          <p:cNvPr id="5" name="Core / SRAM 1.8 V，IO 3.3 V。MAX">
            <a:extLst xmlns:a="http://schemas.openxmlformats.org/drawingml/2006/main">
              <a:ext uri="{FF2B5EF4-FFF2-40B4-BE49-F238E27FC236}">
                <a16:creationId xmlns:a16="http://schemas.microsoft.com/office/drawing/2014/main" id="{03961B05-A644-49BF-A432-CCABB979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rPr>
              <a:t>Core / SRAM 1.8 V，IO 3.3 V。MAX/MIN 为该 TT SDF 的延时选择</a:t>
            </a:r>
          </a:p>
        </p:txBody>
      </p:sp>
    </p:spTree>
    <p:extLst>
      <p:ext uri="{BB962C8B-B14F-4D97-AF65-F5344CB8AC3E}">
        <p14:creationId xmlns:p14="http://schemas.microsoft.com/office/powerpoint/2010/main" val="14769647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启动与复位修复">
            <a:extLst xmlns:a="http://schemas.openxmlformats.org/drawingml/2006/main">
              <a:ext uri="{FF2B5EF4-FFF2-40B4-BE49-F238E27FC236}">
                <a16:creationId xmlns:a16="http://schemas.microsoft.com/office/drawing/2014/main" id="{6877F8AC-2E95-4980-94DB-76D4AA3F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启动与复位修复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DA4371FA-24FD-42F9-A963-03190D4E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C8F6D-EF36-4924-B63C-B7D9DA659F30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47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实际问题</a:t>
                      </a:r>
                    </a:p>
                  </a:txBody>
                  <a:tcPr marL="152400" marR="152400" marT="114300" marB="95250">
                    <a:lnL w="6668">
                      <a:solidFill>
                        <a:srgbClr val="D5E0E7"/>
                      </a:solidFill>
                      <a:prstDash val="solid"/>
                    </a:lnL>
                    <a:lnR w="6668">
                      <a:solidFill>
                        <a:srgbClr val="D5E0E7"/>
                      </a:solidFill>
                      <a:prstDash val="solid"/>
                    </a:lnR>
                    <a:lnT w="6668">
                      <a:solidFill>
                        <a:srgbClr val="D5E0E7"/>
                      </a:solidFill>
                      <a:prstDash val="solid"/>
                    </a:lnT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15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修改与验收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T w="6668">
                      <a:solidFill>
                        <a:srgbClr val="D5E0E7"/>
                      </a:solidFill>
                      <a:prstDash val="solid"/>
                    </a:lnT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152B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CPU 上电抢跑</a:t>
                      </a:r>
                    </a:p>
                    <a:p>
                      <a:r>
                        <a:rPr sz="202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跳入尚未初始化的 SRAM</a:t>
                      </a:r>
                    </a:p>
                  </a:txBody>
                  <a:tcPr marL="152400" marR="152400" marT="114300" marB="95250">
                    <a:lnL w="6668">
                      <a:solidFill>
                        <a:srgbClr val="D5E0E7"/>
                      </a:solidFill>
                      <a:prstDash val="solid"/>
                    </a:lnL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boot RAM 默认执行 jal x0,0 等待</a:t>
                      </a:r>
                    </a:p>
                    <a:p>
                      <a:r>
                        <a:rPr sz="202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JTAG 下载并回读 2048 字后发布启动字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复位释放余量不足</a:t>
                      </a:r>
                    </a:p>
                    <a:p>
                      <a:r>
                        <a:rPr sz="202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综合后 SDF 出现 445 条 removal 违规</a:t>
                      </a:r>
                    </a:p>
                  </a:txBody>
                  <a:tcPr marL="152400" marR="152400" marT="114300" marB="95250">
                    <a:lnL w="6668">
                      <a:solidFill>
                        <a:srgbClr val="D5E0E7"/>
                      </a:solidFill>
                      <a:prstDash val="solid"/>
                    </a:lnL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保留四级同步器并增加下降沿释放寄存器</a:t>
                      </a:r>
                    </a:p>
                    <a:p>
                      <a:r>
                        <a:rPr sz="202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修复后完整重新综合并通过综合后 SDF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程序装载顺序">
            <a:extLst xmlns:a="http://schemas.openxmlformats.org/drawingml/2006/main">
              <a:ext uri="{FF2B5EF4-FFF2-40B4-BE49-F238E27FC236}">
                <a16:creationId xmlns:a16="http://schemas.microsoft.com/office/drawing/2014/main" id="{3B3DF246-6D5E-498B-B3A6-ABCB7D0E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程序装载顺序</a:t>
            </a:r>
          </a:p>
        </p:txBody>
      </p:sp>
      <p:sp>
        <p:nvSpPr>
          <p:cNvPr id="5" name="halt CPU、写程序、完整回读、发布启动字、复位后执行">
            <a:extLst xmlns:a="http://schemas.openxmlformats.org/drawingml/2006/main">
              <a:ext uri="{FF2B5EF4-FFF2-40B4-BE49-F238E27FC236}">
                <a16:creationId xmlns:a16="http://schemas.microsoft.com/office/drawing/2014/main" id="{F3E3A245-A76E-48D8-8A32-A878D8DA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halt CPU、写程序、完整回读、发布启动字、复位后执行</a:t>
            </a:r>
          </a:p>
        </p:txBody>
      </p:sp>
    </p:spTree>
    <p:extLst>
      <p:ext uri="{BB962C8B-B14F-4D97-AF65-F5344CB8AC3E}">
        <p14:creationId xmlns:p14="http://schemas.microsoft.com/office/powerpoint/2010/main" val="12691818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综合与综合前后仿">
            <a:extLst xmlns:a="http://schemas.openxmlformats.org/drawingml/2006/main">
              <a:ext uri="{FF2B5EF4-FFF2-40B4-BE49-F238E27FC236}">
                <a16:creationId xmlns:a16="http://schemas.microsoft.com/office/drawing/2014/main" id="{8DC9CD62-F371-4FF5-BC58-A9667E5E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综合与综合前后仿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230EDF03-65B9-4827-BB0B-BB55C86B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B290DE-3C43-4712-AFD5-1A39A3ADE2AD}"/>
              </a:ext>
            </a:extLst>
          </p:cNvPr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24150"/>
                <a:gridCol w="6191250"/>
                <a:gridCol w="2057400"/>
              </a:tblGrid>
              <a:tr h="685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152400" marR="152400" marT="114300" marB="95250">
                    <a:lnL w="6668">
                      <a:solidFill>
                        <a:srgbClr val="D5E0E7"/>
                      </a:solidFill>
                      <a:prstDash val="solid"/>
                    </a:lnL>
                    <a:lnR w="6668">
                      <a:solidFill>
                        <a:srgbClr val="D5E0E7"/>
                      </a:solidFill>
                      <a:prstDash val="solid"/>
                    </a:lnR>
                    <a:lnT w="6668">
                      <a:solidFill>
                        <a:srgbClr val="D5E0E7"/>
                      </a:solidFill>
                      <a:prstDash val="solid"/>
                    </a:lnT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15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验证内容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T w="6668">
                      <a:solidFill>
                        <a:srgbClr val="D5E0E7"/>
                      </a:solidFill>
                      <a:prstDash val="solid"/>
                    </a:lnT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15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T w="6668">
                      <a:solidFill>
                        <a:srgbClr val="D5E0E7"/>
                      </a:solidFill>
                      <a:prstDash val="solid"/>
                    </a:lnT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152B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RTL 前仿</a:t>
                      </a:r>
                    </a:p>
                  </a:txBody>
                  <a:tcPr marL="152400" marR="152400" marT="114300" marB="95250">
                    <a:lnL w="6668">
                      <a:solidFill>
                        <a:srgbClr val="D5E0E7"/>
                      </a:solidFill>
                      <a:prstDash val="solid"/>
                    </a:lnL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功能、协议、JTAG 下载与固件执行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门级功能后仿</a:t>
                      </a:r>
                    </a:p>
                  </a:txBody>
                  <a:tcPr marL="152400" marR="152400" marT="114300" marB="95250">
                    <a:lnL w="6668">
                      <a:solidFill>
                        <a:srgbClr val="D5E0E7"/>
                      </a:solidFill>
                      <a:prstDash val="solid"/>
                    </a:lnL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映射后逻辑与真实库模型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综合后 SDF 后仿</a:t>
                      </a:r>
                    </a:p>
                  </a:txBody>
                  <a:tcPr marL="152400" marR="152400" marT="114300" marB="95250">
                    <a:lnL w="6668">
                      <a:solidFill>
                        <a:srgbClr val="D5E0E7"/>
                      </a:solidFill>
                      <a:prstDash val="solid"/>
                    </a:lnL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布线前估计延时下的时序与功能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174,420">
            <a:extLst xmlns:a="http://schemas.openxmlformats.org/drawingml/2006/main">
              <a:ext uri="{FF2B5EF4-FFF2-40B4-BE49-F238E27FC236}">
                <a16:creationId xmlns:a16="http://schemas.microsoft.com/office/drawing/2014/main" id="{13C883A4-1E4B-40D5-967B-5AF77C1F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174,420</a:t>
            </a:r>
          </a:p>
        </p:txBody>
      </p:sp>
      <p:sp>
        <p:nvSpPr>
          <p:cNvPr id="5" name="映射单元数，含主 SRAM">
            <a:extLst xmlns:a="http://schemas.openxmlformats.org/drawingml/2006/main">
              <a:ext uri="{FF2B5EF4-FFF2-40B4-BE49-F238E27FC236}">
                <a16:creationId xmlns:a16="http://schemas.microsoft.com/office/drawing/2014/main" id="{55F66AEE-D62D-469E-98BD-FDBC26A4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映射单元数，含主 SRAM</a:t>
            </a:r>
          </a:p>
        </p:txBody>
      </p:sp>
      <p:sp>
        <p:nvSpPr>
          <p:cNvPr id="6" name="4.783739 mm²">
            <a:extLst xmlns:a="http://schemas.openxmlformats.org/drawingml/2006/main">
              <a:ext uri="{FF2B5EF4-FFF2-40B4-BE49-F238E27FC236}">
                <a16:creationId xmlns:a16="http://schemas.microsoft.com/office/drawing/2014/main" id="{D55287FD-5711-4C3A-912C-48D6A9C7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291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4.783739 mm²</a:t>
            </a:r>
          </a:p>
        </p:txBody>
      </p:sp>
      <p:sp>
        <p:nvSpPr>
          <p:cNvPr id="7" name="Genus 映射单元面积">
            <a:extLst xmlns:a="http://schemas.openxmlformats.org/drawingml/2006/main">
              <a:ext uri="{FF2B5EF4-FFF2-40B4-BE49-F238E27FC236}">
                <a16:creationId xmlns:a16="http://schemas.microsoft.com/office/drawing/2014/main" id="{1240BFF2-2E02-4B59-85AD-5E436B08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3340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Genus 映射单元面积</a:t>
            </a:r>
          </a:p>
        </p:txBody>
      </p:sp>
      <p:sp>
        <p:nvSpPr>
          <p:cNvPr id="8" name="+0.141 ns">
            <a:extLst xmlns:a="http://schemas.openxmlformats.org/drawingml/2006/main">
              <a:ext uri="{FF2B5EF4-FFF2-40B4-BE49-F238E27FC236}">
                <a16:creationId xmlns:a16="http://schemas.microsoft.com/office/drawing/2014/main" id="{D3D7E937-89F7-49C9-A635-8466DC46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291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+0.141 ns</a:t>
            </a:r>
          </a:p>
        </p:txBody>
      </p:sp>
      <p:sp>
        <p:nvSpPr>
          <p:cNvPr id="9" name="综合 setup 余量">
            <a:extLst xmlns:a="http://schemas.openxmlformats.org/drawingml/2006/main">
              <a:ext uri="{FF2B5EF4-FFF2-40B4-BE49-F238E27FC236}">
                <a16:creationId xmlns:a16="http://schemas.microsoft.com/office/drawing/2014/main" id="{81797E96-9DD8-4993-A82F-F4F7E65E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3340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综合 setup 余量</a:t>
            </a:r>
          </a:p>
        </p:txBody>
      </p:sp>
      <p:sp>
        <p:nvSpPr>
          <p:cNvPr id="10" name="以上为综合阶段结果。最终 CTS、布线寄生和 hold 在物">
            <a:extLst xmlns:a="http://schemas.openxmlformats.org/drawingml/2006/main">
              <a:ext uri="{FF2B5EF4-FFF2-40B4-BE49-F238E27FC236}">
                <a16:creationId xmlns:a16="http://schemas.microsoft.com/office/drawing/2014/main" id="{44A35620-4144-451A-9E32-772FE7FD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rPr>
              <a:t>以上为综合阶段结果。最终 CTS、布线寄生和 hold 在物理阶段另行验收</a:t>
            </a:r>
          </a:p>
        </p:txBody>
      </p:sp>
    </p:spTree>
    <p:extLst>
      <p:ext uri="{BB962C8B-B14F-4D97-AF65-F5344CB8AC3E}">
        <p14:creationId xmlns:p14="http://schemas.microsoft.com/office/powerpoint/2010/main" val="9161598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布局与时钟树综合">
            <a:extLst xmlns:a="http://schemas.openxmlformats.org/drawingml/2006/main">
              <a:ext uri="{FF2B5EF4-FFF2-40B4-BE49-F238E27FC236}">
                <a16:creationId xmlns:a16="http://schemas.microsoft.com/office/drawing/2014/main" id="{9A40F2A5-383E-40CD-AEA7-E1DE464E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布局与时钟树综合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0678B006-3A95-4417-AB6D-98ED1E74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3553F-9272-4002-95E9-EB742010D0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3780f45064a8e"/>
          <a:stretch xmlns:a="http://schemas.openxmlformats.org/drawingml/2006/main"/>
        </p:blipFill>
        <p:spPr>
          <a:xfrm xmlns:a="http://schemas.openxmlformats.org/drawingml/2006/main">
            <a:off x="5240821" y="1123950"/>
            <a:ext cx="6377609" cy="5334000"/>
          </a:xfrm>
          <a:prstGeom xmlns:a="http://schemas.openxmlformats.org/drawingml/2006/main" prst="rect">
            <a:avLst/>
          </a:prstGeom>
        </p:spPr>
      </p:pic>
      <p:sp>
        <p:nvSpPr>
          <p:cNvPr id="4" name="Die">
            <a:extLst xmlns:a="http://schemas.openxmlformats.org/drawingml/2006/main">
              <a:ext uri="{FF2B5EF4-FFF2-40B4-BE49-F238E27FC236}">
                <a16:creationId xmlns:a16="http://schemas.microsoft.com/office/drawing/2014/main" id="{6F26291A-29BF-4E41-9090-C21ADC0B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Die</a:t>
            </a:r>
          </a:p>
        </p:txBody>
      </p:sp>
      <p:sp>
        <p:nvSpPr>
          <p:cNvPr id="5" name="3.40032 × 3.40032 mm">
            <a:extLst xmlns:a="http://schemas.openxmlformats.org/drawingml/2006/main">
              <a:ext uri="{FF2B5EF4-FFF2-40B4-BE49-F238E27FC236}">
                <a16:creationId xmlns:a16="http://schemas.microsoft.com/office/drawing/2014/main" id="{48836F55-4B59-49DD-B044-B7737BCF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3.40032 × 3.40032 mm</a:t>
            </a:r>
          </a:p>
        </p:txBody>
      </p:sp>
      <p:sp>
        <p:nvSpPr>
          <p:cNvPr id="6" name="Core">
            <a:extLst xmlns:a="http://schemas.openxmlformats.org/drawingml/2006/main">
              <a:ext uri="{FF2B5EF4-FFF2-40B4-BE49-F238E27FC236}">
                <a16:creationId xmlns:a16="http://schemas.microsoft.com/office/drawing/2014/main" id="{BAA12C1D-B8C3-4D65-BEBD-D9AD53FD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Core</a:t>
            </a:r>
          </a:p>
        </p:txBody>
      </p:sp>
      <p:sp>
        <p:nvSpPr>
          <p:cNvPr id="7" name="3.10016 × 3.10016 mm">
            <a:extLst xmlns:a="http://schemas.openxmlformats.org/drawingml/2006/main">
              <a:ext uri="{FF2B5EF4-FFF2-40B4-BE49-F238E27FC236}">
                <a16:creationId xmlns:a16="http://schemas.microsoft.com/office/drawing/2014/main" id="{99DC4D04-07D2-4112-8B89-37005A6C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3.10016 × 3.10016 mm</a:t>
            </a:r>
          </a:p>
        </p:txBody>
      </p:sp>
      <p:sp>
        <p:nvSpPr>
          <p:cNvPr id="8" name="单元布局、SRAM 宏与 IO 环&#10;CTS 构建实际时钟网络">
            <a:extLst xmlns:a="http://schemas.openxmlformats.org/drawingml/2006/main">
              <a:ext uri="{FF2B5EF4-FFF2-40B4-BE49-F238E27FC236}">
                <a16:creationId xmlns:a16="http://schemas.microsoft.com/office/drawing/2014/main" id="{AC7E76FB-E7D5-4018-9D7B-6DB69F57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41910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单元布局、SRAM 宏与 IO 环</a:t>
            </a:r>
          </a:p>
          <a:p xmlns:a="http://schemas.openxmlformats.org/drawingml/2006/main">
            <a: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CTS 构建实际时钟网络</a:t>
            </a:r>
          </a:p>
          <a:p xmlns:a="http://schemas.openxmlformats.org/drawingml/2006/main">
            <a: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后续继续优化 setup / hold</a:t>
            </a:r>
          </a:p>
        </p:txBody>
      </p:sp>
      <p:sp>
        <p:nvSpPr>
          <p:cNvPr id="9" name="右图为 CTS 后实际几何">
            <a:extLst xmlns:a="http://schemas.openxmlformats.org/drawingml/2006/main">
              <a:ext uri="{FF2B5EF4-FFF2-40B4-BE49-F238E27FC236}">
                <a16:creationId xmlns:a16="http://schemas.microsoft.com/office/drawing/2014/main" id="{93EA3364-3B37-4835-AD00-7DD25B91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rPr>
              <a:t>右图为 CTS 后实际几何</a:t>
            </a:r>
          </a:p>
        </p:txBody>
      </p:sp>
    </p:spTree>
    <p:extLst>
      <p:ext uri="{BB962C8B-B14F-4D97-AF65-F5344CB8AC3E}">
        <p14:creationId xmlns:p14="http://schemas.microsoft.com/office/powerpoint/2010/main" val="5327953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最终布线版图">
            <a:extLst xmlns:a="http://schemas.openxmlformats.org/drawingml/2006/main">
              <a:ext uri="{FF2B5EF4-FFF2-40B4-BE49-F238E27FC236}">
                <a16:creationId xmlns:a16="http://schemas.microsoft.com/office/drawing/2014/main" id="{DFFF6A22-F5C9-4B64-A62D-97AF9FAF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最终布线版图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409721C3-9AFB-443A-9C9B-375914F4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E5572-5F45-431A-8B73-E1D7B56F05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bce5125e4b495a"/>
          <a:stretch xmlns:a="http://schemas.openxmlformats.org/drawingml/2006/main"/>
        </p:blipFill>
        <p:spPr>
          <a:xfrm xmlns:a="http://schemas.openxmlformats.org/drawingml/2006/main">
            <a:off x="928895" y="1066800"/>
            <a:ext cx="5876511" cy="4914900"/>
          </a:xfrm>
          <a:prstGeom xmlns:a="http://schemas.openxmlformats.org/drawingml/2006/main" prst="rect">
            <a:avLst/>
          </a:prstGeom>
        </p:spPr>
      </p:pic>
      <p:sp>
        <p:nvSpPr>
          <p:cNvPr id="4" name="565,775">
            <a:extLst xmlns:a="http://schemas.openxmlformats.org/drawingml/2006/main">
              <a:ext uri="{FF2B5EF4-FFF2-40B4-BE49-F238E27FC236}">
                <a16:creationId xmlns:a16="http://schemas.microsoft.com/office/drawing/2014/main" id="{19CDC977-C262-4228-8656-CC05F9EF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428750"/>
            <a:ext cx="361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9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9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9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9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9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9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9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9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9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565,775</a:t>
            </a:r>
          </a:p>
        </p:txBody>
      </p:sp>
      <p:sp>
        <p:nvSpPr>
          <p:cNvPr id="5" name="最终实例，全部已放置">
            <a:extLst xmlns:a="http://schemas.openxmlformats.org/drawingml/2006/main">
              <a:ext uri="{FF2B5EF4-FFF2-40B4-BE49-F238E27FC236}">
                <a16:creationId xmlns:a16="http://schemas.microsoft.com/office/drawing/2014/main" id="{E14F455C-3883-466B-BCA9-4B453A2F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81225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最终实例，全部已放置</a:t>
            </a:r>
          </a:p>
        </p:txBody>
      </p:sp>
      <p:sp>
        <p:nvSpPr>
          <p:cNvPr id="6" name="175,354 个逻辑标准单元&#10;388,216 个 fill">
            <a:extLst xmlns:a="http://schemas.openxmlformats.org/drawingml/2006/main">
              <a:ext uri="{FF2B5EF4-FFF2-40B4-BE49-F238E27FC236}">
                <a16:creationId xmlns:a16="http://schemas.microsoft.com/office/drawing/2014/main" id="{5988BF9C-5BBF-4413-BD73-4A6ECB02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48000"/>
            <a:ext cx="3619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175,354 个逻辑标准单元</a:t>
            </a:r>
          </a:p>
          <a:p xmlns:a="http://schemas.openxmlformats.org/drawingml/2006/main">
            <a: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388,216 个 filler / tap</a:t>
            </a:r>
          </a:p>
          <a:p xmlns:a="http://schemas.openxmlformats.org/drawingml/2006/main">
            <a: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1 个主 SRAM 宏</a:t>
            </a:r>
          </a:p>
        </p:txBody>
      </p:sp>
      <p:sp>
        <p:nvSpPr>
          <p:cNvPr id="7" name="6 个信号 PAD&#10;28 个供电 PAD&#10;34 个 Bond">
            <a:extLst xmlns:a="http://schemas.openxmlformats.org/drawingml/2006/main">
              <a:ext uri="{FF2B5EF4-FFF2-40B4-BE49-F238E27FC236}">
                <a16:creationId xmlns:a16="http://schemas.microsoft.com/office/drawing/2014/main" id="{93281ACB-1306-4970-9BEC-D2683397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10125"/>
            <a:ext cx="3619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6 个信号 PAD</a:t>
            </a:r>
          </a:p>
          <a:p xmlns:a="http://schemas.openxmlformats.org/drawingml/2006/main">
            <a: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28 个供电 PAD</a:t>
            </a:r>
          </a:p>
          <a:p xmlns:a="http://schemas.openxmlformats.org/drawingml/2006/main">
            <a: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34 个 Bond 单元</a:t>
            </a:r>
          </a:p>
        </p:txBody>
      </p:sp>
      <p:sp>
        <p:nvSpPr>
          <p:cNvPr id="8" name="实际最终 DEF/LEF 几何渲染，含单元放置与抽样布线">
            <a:extLst xmlns:a="http://schemas.openxmlformats.org/drawingml/2006/main">
              <a:ext uri="{FF2B5EF4-FFF2-40B4-BE49-F238E27FC236}">
                <a16:creationId xmlns:a16="http://schemas.microsoft.com/office/drawing/2014/main" id="{5AF19384-CF88-4048-B87B-65BBB645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rPr>
              <a:t>实际最终 DEF/LEF 几何渲染，含单元放置与抽样布线</a:t>
            </a:r>
          </a:p>
        </p:txBody>
      </p:sp>
    </p:spTree>
    <p:extLst>
      <p:ext uri="{BB962C8B-B14F-4D97-AF65-F5344CB8AC3E}">
        <p14:creationId xmlns:p14="http://schemas.microsoft.com/office/powerpoint/2010/main" val="18024856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最终静态时序与物理检查">
            <a:extLst xmlns:a="http://schemas.openxmlformats.org/drawingml/2006/main">
              <a:ext uri="{FF2B5EF4-FFF2-40B4-BE49-F238E27FC236}">
                <a16:creationId xmlns:a16="http://schemas.microsoft.com/office/drawing/2014/main" id="{A9F4779B-4B0A-4501-A76B-B31AB34C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最终静态时序与物理检查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31023EA9-3406-48AD-BFC4-D35D57ED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+1.217 ns">
            <a:extLst xmlns:a="http://schemas.openxmlformats.org/drawingml/2006/main">
              <a:ext uri="{FF2B5EF4-FFF2-40B4-BE49-F238E27FC236}">
                <a16:creationId xmlns:a16="http://schemas.microsoft.com/office/drawing/2014/main" id="{340496E6-9306-4232-9C88-40A7CF44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457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3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3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3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3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3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3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3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3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3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+1.217 ns</a:t>
            </a:r>
          </a:p>
        </p:txBody>
      </p:sp>
      <p:sp>
        <p:nvSpPr>
          <p:cNvPr id="4" name="setup 最差余量">
            <a:extLst xmlns:a="http://schemas.openxmlformats.org/drawingml/2006/main">
              <a:ext uri="{FF2B5EF4-FFF2-40B4-BE49-F238E27FC236}">
                <a16:creationId xmlns:a16="http://schemas.microsoft.com/office/drawing/2014/main" id="{5536CD22-D722-4884-8D96-E845DD15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setup 最差余量</a:t>
            </a:r>
          </a:p>
        </p:txBody>
      </p:sp>
      <p:sp>
        <p:nvSpPr>
          <p:cNvPr id="5" name="+0.018 ns">
            <a:extLst xmlns:a="http://schemas.openxmlformats.org/drawingml/2006/main">
              <a:ext uri="{FF2B5EF4-FFF2-40B4-BE49-F238E27FC236}">
                <a16:creationId xmlns:a16="http://schemas.microsoft.com/office/drawing/2014/main" id="{48E2CDA2-E972-4AC0-9627-49CD40FE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323975"/>
            <a:ext cx="457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3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3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3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3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3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3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3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3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3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+0.018 ns</a:t>
            </a:r>
          </a:p>
        </p:txBody>
      </p:sp>
      <p:sp>
        <p:nvSpPr>
          <p:cNvPr id="6" name="hold 最差余量">
            <a:extLst xmlns:a="http://schemas.openxmlformats.org/drawingml/2006/main">
              <a:ext uri="{FF2B5EF4-FFF2-40B4-BE49-F238E27FC236}">
                <a16:creationId xmlns:a16="http://schemas.microsoft.com/office/drawing/2014/main" id="{E11F43FC-B0B5-4815-83A8-520B65ED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717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hold 最差余量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C090E-7AD8-4C19-9A66-2E64B8817C48}"/>
              </a:ext>
            </a:extLst>
          </p:cNvPr>
          <p:cNvGraphicFramePr/>
          <p:nvPr/>
        </p:nvGraphicFramePr>
        <p:xfrm>
          <a:off xmlns:a="http://schemas.openxmlformats.org/drawingml/2006/main" x="609600" y="3086100"/>
          <a:ext xmlns:a="http://schemas.openxmlformats.org/drawingml/2006/main" cx="10972800" cy="2400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143750"/>
                <a:gridCol w="3829050"/>
              </a:tblGrid>
              <a:tr h="6000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最终检查</a:t>
                      </a:r>
                    </a:p>
                  </a:txBody>
                  <a:tcPr marL="152400" marR="152400" marT="114300" marB="95250">
                    <a:lnL w="6668">
                      <a:solidFill>
                        <a:srgbClr val="D5E0E7"/>
                      </a:solidFill>
                      <a:prstDash val="solid"/>
                    </a:lnL>
                    <a:lnR w="6668">
                      <a:solidFill>
                        <a:srgbClr val="D5E0E7"/>
                      </a:solidFill>
                      <a:prstDash val="solid"/>
                    </a:lnR>
                    <a:lnT w="6668">
                      <a:solidFill>
                        <a:srgbClr val="D5E0E7"/>
                      </a:solidFill>
                      <a:prstDash val="solid"/>
                    </a:lnT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15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实际结果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T w="6668">
                      <a:solidFill>
                        <a:srgbClr val="D5E0E7"/>
                      </a:solidFill>
                      <a:prstDash val="solid"/>
                    </a:lnT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152B4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TNS、违反端点、DRV</a:t>
                      </a:r>
                    </a:p>
                  </a:txBody>
                  <a:tcPr marL="152400" marR="152400" marT="114300" marB="95250">
                    <a:lnL w="6668">
                      <a:solidFill>
                        <a:srgbClr val="D5E0E7"/>
                      </a:solidFill>
                      <a:prstDash val="solid"/>
                    </a:lnL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均为 0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布线 DRC、天线违规、核心 PG stub</a:t>
                      </a:r>
                    </a:p>
                  </a:txBody>
                  <a:tcPr marL="152400" marR="152400" marT="114300" marB="95250">
                    <a:lnL w="6668">
                      <a:solidFill>
                        <a:srgbClr val="D5E0E7"/>
                      </a:solidFill>
                      <a:prstDash val="solid"/>
                    </a:lnL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均为 0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独立连接、几何与身份审计</a:t>
                      </a:r>
                    </a:p>
                  </a:txBody>
                  <a:tcPr marL="152400" marR="152400" marT="114300" marB="95250">
                    <a:lnL w="6668">
                      <a:solidFill>
                        <a:srgbClr val="D5E0E7"/>
                      </a:solidFill>
                      <a:prstDash val="solid"/>
                    </a:lnL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/ 8 PASS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保留 2 项原生 IO 供电提示及 34 处预期 Bond ">
            <a:extLst xmlns:a="http://schemas.openxmlformats.org/drawingml/2006/main">
              <a:ext uri="{FF2B5EF4-FFF2-40B4-BE49-F238E27FC236}">
                <a16:creationId xmlns:a16="http://schemas.microsoft.com/office/drawing/2014/main" id="{02E43A70-8EB3-456C-B280-A6F859AC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rPr>
              <a:t>保留 2 项原生 IO 供电提示及 34 处预期 Bond 覆盖，并以对应几何证据验收</a:t>
            </a:r>
          </a:p>
        </p:txBody>
      </p:sp>
    </p:spTree>
    <p:extLst>
      <p:ext uri="{BB962C8B-B14F-4D97-AF65-F5344CB8AC3E}">
        <p14:creationId xmlns:p14="http://schemas.microsoft.com/office/powerpoint/2010/main" val="1303119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布线后 SDF 注入与覆盖">
            <a:extLst xmlns:a="http://schemas.openxmlformats.org/drawingml/2006/main">
              <a:ext uri="{FF2B5EF4-FFF2-40B4-BE49-F238E27FC236}">
                <a16:creationId xmlns:a16="http://schemas.microsoft.com/office/drawing/2014/main" id="{E26C7E9C-7E7D-4AB3-95A7-9E45D80A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布线后 SDF 注入与覆盖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DF1CF44E-56EF-4343-83F3-08EC6D85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D2FC3-D747-430F-95F4-601DC044491F}"/>
              </a:ext>
            </a:extLst>
          </p:cNvPr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3543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7924800"/>
              </a:tblGrid>
              <a:tr h="8858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处理对象</a:t>
                      </a:r>
                    </a:p>
                  </a:txBody>
                  <a:tcPr marL="152400" marR="152400" marT="114300" marB="95250">
                    <a:lnL w="6668">
                      <a:solidFill>
                        <a:srgbClr val="D5E0E7"/>
                      </a:solidFill>
                      <a:prstDash val="solid"/>
                    </a:lnL>
                    <a:lnR w="6668">
                      <a:solidFill>
                        <a:srgbClr val="D5E0E7"/>
                      </a:solidFill>
                      <a:prstDash val="solid"/>
                    </a:lnR>
                    <a:lnT w="6668">
                      <a:solidFill>
                        <a:srgbClr val="D5E0E7"/>
                      </a:solidFill>
                      <a:prstDash val="solid"/>
                    </a:lnT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15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采用的方法与边界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T w="6668">
                      <a:solidFill>
                        <a:srgbClr val="D5E0E7"/>
                      </a:solidFill>
                      <a:prstDash val="solid"/>
                    </a:lnT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152B43"/>
                    </a:solidFill>
                  </a:tcPr>
                </a:tc>
              </a:tr>
              <a:tr h="8858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负传播延时</a:t>
                      </a:r>
                    </a:p>
                  </a:txBody>
                  <a:tcPr marL="152400" marR="152400" marT="114300" marB="95250">
                    <a:lnL w="6668">
                      <a:solidFill>
                        <a:srgbClr val="D5E0E7"/>
                      </a:solidFill>
                      <a:prstDash val="solid"/>
                    </a:lnL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 条 IOPATH 中 46 个负分量归零</a:t>
                      </a:r>
                    </a:p>
                    <a:p>
                      <a:r>
                        <a:rPr sz="1950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保留原始 STA SDF 与最终静态时序结果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58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 timing checks</a:t>
                      </a:r>
                    </a:p>
                  </a:txBody>
                  <a:tcPr marL="152400" marR="152400" marT="114300" marB="95250">
                    <a:lnL w="6668">
                      <a:solidFill>
                        <a:srgbClr val="D5E0E7"/>
                      </a:solidFill>
                      <a:prstDash val="solid"/>
                    </a:lnL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 63,129 条含负值的检查记录</a:t>
                      </a:r>
                    </a:p>
                    <a:p>
                      <a:r>
                        <a:rPr sz="1950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全部时序检查持续开启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58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跨层次 assign 互连</a:t>
                      </a:r>
                    </a:p>
                  </a:txBody>
                  <a:tcPr marL="152400" marR="152400" marT="114300" marB="95250">
                    <a:lnL w="6668">
                      <a:solidFill>
                        <a:srgbClr val="D5E0E7"/>
                      </a:solidFill>
                      <a:prstDash val="solid"/>
                    </a:lnL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 -caint 跟踪真实源驱动</a:t>
                      </a:r>
                    </a:p>
                    <a:p>
                      <a:r>
                        <a:rPr sz="1950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拒绝 SDF / TIM / NDL 注入诊断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约束覆盖分类">
            <a:extLst xmlns:a="http://schemas.openxmlformats.org/drawingml/2006/main">
              <a:ext uri="{FF2B5EF4-FFF2-40B4-BE49-F238E27FC236}">
                <a16:creationId xmlns:a16="http://schemas.microsoft.com/office/drawing/2014/main" id="{7CF7D029-C41D-431F-8DF8-1D891C90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约束覆盖分类</a:t>
            </a:r>
          </a:p>
        </p:txBody>
      </p:sp>
      <p:sp>
        <p:nvSpPr>
          <p:cNvPr id="5" name="保留 late 3138 / early 3220 个未测试">
            <a:extLst xmlns:a="http://schemas.openxmlformats.org/drawingml/2006/main">
              <a:ext uri="{FF2B5EF4-FFF2-40B4-BE49-F238E27FC236}">
                <a16:creationId xmlns:a16="http://schemas.microsoft.com/office/drawing/2014/main" id="{A3EA7700-59F5-4E50-B2F5-13C69104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rPr>
              <a:t>保留 late 3138 / early 3220 个未测试项，逐项分类，没有新增时序例外</a:t>
            </a:r>
          </a:p>
        </p:txBody>
      </p:sp>
    </p:spTree>
    <p:extLst>
      <p:ext uri="{BB962C8B-B14F-4D97-AF65-F5344CB8AC3E}">
        <p14:creationId xmlns:p14="http://schemas.microsoft.com/office/powerpoint/2010/main" val="18029514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布线后上电时序">
            <a:extLst xmlns:a="http://schemas.openxmlformats.org/drawingml/2006/main">
              <a:ext uri="{FF2B5EF4-FFF2-40B4-BE49-F238E27FC236}">
                <a16:creationId xmlns:a16="http://schemas.microsoft.com/office/drawing/2014/main" id="{ABCB700B-CFBE-4591-9204-C447004D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布线后上电时序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878664A6-CE2F-4CD3-BABA-9F41BD1E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原 MAX 基线在上电最初约 12 ns 出现 3 条 se">
            <a:extLst xmlns:a="http://schemas.openxmlformats.org/drawingml/2006/main">
              <a:ext uri="{FF2B5EF4-FFF2-40B4-BE49-F238E27FC236}">
                <a16:creationId xmlns:a16="http://schemas.microsoft.com/office/drawing/2014/main" id="{44699D5C-F77E-4EC8-905E-9D3E2E8D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rPr>
              <a:t>原 MAX 基线在上电最初约 12 ns 出现 3 条 setup 违规，失败记录保留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1AA3D-7132-40F6-B4CE-931098854675}"/>
              </a:ext>
            </a:extLst>
          </p:cNvPr>
          <p:cNvGraphicFramePr/>
          <p:nvPr/>
        </p:nvGraphicFramePr>
        <p:xfrm>
          <a:off xmlns:a="http://schemas.openxmlformats.org/drawingml/2006/main" x="609600" y="197167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8115300"/>
              </a:tblGrid>
              <a:tr h="666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 / 阶段</a:t>
                      </a:r>
                    </a:p>
                  </a:txBody>
                  <a:tcPr marL="152400" marR="152400" marT="114300" marB="95250">
                    <a:lnL w="6668">
                      <a:solidFill>
                        <a:srgbClr val="D5E0E7"/>
                      </a:solidFill>
                      <a:prstDash val="solid"/>
                    </a:lnL>
                    <a:lnR w="6668">
                      <a:solidFill>
                        <a:srgbClr val="D5E0E7"/>
                      </a:solidFill>
                      <a:prstDash val="solid"/>
                    </a:lnR>
                    <a:lnT w="6668">
                      <a:solidFill>
                        <a:srgbClr val="D5E0E7"/>
                      </a:solidFill>
                      <a:prstDash val="solid"/>
                    </a:lnT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15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正式验收采用的外部条件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T w="6668">
                      <a:solidFill>
                        <a:srgbClr val="D5E0E7"/>
                      </a:solidFill>
                      <a:prstDash val="solid"/>
                    </a:lnT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152B4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0–1000 ns</a:t>
                      </a:r>
                    </a:p>
                  </a:txBody>
                  <a:tcPr marL="152400" marR="152400" marT="114300" marB="95250">
                    <a:lnL w="6668">
                      <a:solidFill>
                        <a:srgbClr val="D5E0E7"/>
                      </a:solidFill>
                      <a:prstDash val="solid"/>
                    </a:lnL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复位有效，系统时钟保持低电平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1010 ns</a:t>
                      </a:r>
                    </a:p>
                  </a:txBody>
                  <a:tcPr marL="152400" marR="152400" marT="114300" marB="95250">
                    <a:lnL w="6668">
                      <a:solidFill>
                        <a:srgbClr val="D5E0E7"/>
                      </a:solidFill>
                      <a:prstDash val="solid"/>
                    </a:lnL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系统时钟出现第一个上升沿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1160 ns</a:t>
                      </a:r>
                    </a:p>
                  </a:txBody>
                  <a:tcPr marL="152400" marR="152400" marT="114300" marB="95250">
                    <a:lnL w="6668">
                      <a:solidFill>
                        <a:srgbClr val="D5E0E7"/>
                      </a:solidFill>
                      <a:prstDash val="solid"/>
                    </a:lnL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等待原来的 8 个下降沿后，释放外部复位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随后</a:t>
                      </a:r>
                    </a:p>
                  </a:txBody>
                  <a:tcPr marL="152400" marR="152400" marT="114300" marB="95250">
                    <a:lnL w="6668">
                      <a:solidFill>
                        <a:srgbClr val="D5E0E7"/>
                      </a:solidFill>
                      <a:prstDash val="solid"/>
                    </a:lnL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JTAG 下载、完整回读，两次复位执行程序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系统 / JTAG 周期继续保持 20 / 100 ns，全">
            <a:extLst xmlns:a="http://schemas.openxmlformats.org/drawingml/2006/main">
              <a:ext uri="{FF2B5EF4-FFF2-40B4-BE49-F238E27FC236}">
                <a16:creationId xmlns:a16="http://schemas.microsoft.com/office/drawing/2014/main" id="{FAA51CB9-13F2-466D-B858-B00892A9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rPr>
              <a:t>系统 / JTAG 周期继续保持 20 / 100 ns，全部 specify 与 timing checks 开启</a:t>
            </a:r>
          </a:p>
        </p:txBody>
      </p:sp>
      <p:sp>
        <p:nvSpPr>
          <p:cNvPr id="6" name="若要求系统时钟从上电起自由运行，仍需相应的初始化设计与重新验">
            <a:extLst xmlns:a="http://schemas.openxmlformats.org/drawingml/2006/main">
              <a:ext uri="{FF2B5EF4-FFF2-40B4-BE49-F238E27FC236}">
                <a16:creationId xmlns:a16="http://schemas.microsoft.com/office/drawing/2014/main" id="{554F6532-48BE-41C7-999F-71AD711E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293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rPr>
              <a:t>若要求系统时钟从上电起自由运行，仍需相应的初始化设计与重新验证</a:t>
            </a:r>
          </a:p>
        </p:txBody>
      </p:sp>
    </p:spTree>
    <p:extLst>
      <p:ext uri="{BB962C8B-B14F-4D97-AF65-F5344CB8AC3E}">
        <p14:creationId xmlns:p14="http://schemas.microsoft.com/office/powerpoint/2010/main" val="10426702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四个完整布线后场景全部通过">
            <a:extLst xmlns:a="http://schemas.openxmlformats.org/drawingml/2006/main">
              <a:ext uri="{FF2B5EF4-FFF2-40B4-BE49-F238E27FC236}">
                <a16:creationId xmlns:a16="http://schemas.microsoft.com/office/drawing/2014/main" id="{10093E83-98FA-4D6C-B539-6268AF3F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四个完整布线后场景全部通过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A2F9B758-B92D-4CB6-8E00-1490AD2A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A0815-5CF4-4467-A048-06931B5D8095}"/>
              </a:ext>
            </a:extLst>
          </p:cNvPr>
          <p:cNvGraphicFramePr/>
          <p:nvPr/>
        </p:nvGraphicFramePr>
        <p:xfrm>
          <a:off xmlns:a="http://schemas.openxmlformats.org/drawingml/2006/main" x="609600" y="14859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1333500"/>
                <a:gridCol w="2667000"/>
                <a:gridCol w="1619250"/>
                <a:gridCol w="1619250"/>
                <a:gridCol w="1733550"/>
              </a:tblGrid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SDF 延时</a:t>
                      </a:r>
                    </a:p>
                  </a:txBody>
                  <a:tcPr marL="152400" marR="152400" marT="114300" marB="95250">
                    <a:lnL w="6668">
                      <a:solidFill>
                        <a:srgbClr val="D5E0E7"/>
                      </a:solidFill>
                      <a:prstDash val="solid"/>
                    </a:lnL>
                    <a:lnR w="6668">
                      <a:solidFill>
                        <a:srgbClr val="D5E0E7"/>
                      </a:solidFill>
                      <a:prstDash val="solid"/>
                    </a:lnR>
                    <a:lnT w="6668">
                      <a:solidFill>
                        <a:srgbClr val="D5E0E7"/>
                      </a:solidFill>
                      <a:prstDash val="solid"/>
                    </a:lnT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15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固件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T w="6668">
                      <a:solidFill>
                        <a:srgbClr val="D5E0E7"/>
                      </a:solidFill>
                      <a:prstDash val="solid"/>
                    </a:lnT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15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下载 / 回读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T w="6668">
                      <a:solidFill>
                        <a:srgbClr val="D5E0E7"/>
                      </a:solidFill>
                      <a:prstDash val="solid"/>
                    </a:lnT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15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启动次数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T w="6668">
                      <a:solidFill>
                        <a:srgbClr val="D5E0E7"/>
                      </a:solidFill>
                      <a:prstDash val="solid"/>
                    </a:lnT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15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时序诊断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T w="6668">
                      <a:solidFill>
                        <a:srgbClr val="D5E0E7"/>
                      </a:solidFill>
                      <a:prstDash val="solid"/>
                    </a:lnT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15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T w="6668">
                      <a:solidFill>
                        <a:srgbClr val="D5E0E7"/>
                      </a:solidFill>
                      <a:prstDash val="solid"/>
                    </a:lnT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152B4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MAXIMUM</a:t>
                      </a:r>
                    </a:p>
                  </a:txBody>
                  <a:tcPr marL="152400" marR="152400" marT="114300" marB="95250">
                    <a:lnL w="6668">
                      <a:solidFill>
                        <a:srgbClr val="D5E0E7"/>
                      </a:solidFill>
                      <a:prstDash val="solid"/>
                    </a:lnL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自测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2048 / 2048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MAXIMUM</a:t>
                      </a:r>
                    </a:p>
                  </a:txBody>
                  <a:tcPr marL="152400" marR="152400" marT="114300" marB="95250">
                    <a:lnL w="6668">
                      <a:solidFill>
                        <a:srgbClr val="D5E0E7"/>
                      </a:solidFill>
                      <a:prstDash val="solid"/>
                    </a:lnL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DMA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2048 / 2048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MINIMUM</a:t>
                      </a:r>
                    </a:p>
                  </a:txBody>
                  <a:tcPr marL="152400" marR="152400" marT="114300" marB="95250">
                    <a:lnL w="6668">
                      <a:solidFill>
                        <a:srgbClr val="D5E0E7"/>
                      </a:solidFill>
                      <a:prstDash val="solid"/>
                    </a:lnL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自测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2048 / 2048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MINIMUM</a:t>
                      </a:r>
                    </a:p>
                  </a:txBody>
                  <a:tcPr marL="152400" marR="152400" marT="114300" marB="95250">
                    <a:lnL w="6668">
                      <a:solidFill>
                        <a:srgbClr val="D5E0E7"/>
                      </a:solidFill>
                      <a:prstDash val="solid"/>
                    </a:lnL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DMA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2048 / 2048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自测固件">
            <a:extLst xmlns:a="http://schemas.openxmlformats.org/drawingml/2006/main">
              <a:ext uri="{FF2B5EF4-FFF2-40B4-BE49-F238E27FC236}">
                <a16:creationId xmlns:a16="http://schemas.microsoft.com/office/drawing/2014/main" id="{0F7C64B4-4A06-4C98-8C40-F74F8A0E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自测固件</a:t>
            </a:r>
          </a:p>
        </p:txBody>
      </p:sp>
      <p:sp>
        <p:nvSpPr>
          <p:cNvPr id="5" name="量化边界与单 / 双样本结果">
            <a:extLst xmlns:a="http://schemas.openxmlformats.org/drawingml/2006/main">
              <a:ext uri="{FF2B5EF4-FFF2-40B4-BE49-F238E27FC236}">
                <a16:creationId xmlns:a16="http://schemas.microsoft.com/office/drawing/2014/main" id="{38CD50D9-E38F-4EF2-AD7D-435CE06C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量化边界与单 / 双样本结果</a:t>
            </a:r>
          </a:p>
        </p:txBody>
      </p:sp>
      <p:sp>
        <p:nvSpPr>
          <p:cNvPr id="6" name="DMA 固件">
            <a:extLst xmlns:a="http://schemas.openxmlformats.org/drawingml/2006/main">
              <a:ext uri="{FF2B5EF4-FFF2-40B4-BE49-F238E27FC236}">
                <a16:creationId xmlns:a16="http://schemas.microsoft.com/office/drawing/2014/main" id="{9BB3405E-BE3B-4FD9-A0A7-CEA6B1BF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124450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DMA 固件</a:t>
            </a:r>
          </a:p>
        </p:txBody>
      </p:sp>
      <p:sp>
        <p:nvSpPr>
          <p:cNvPr id="7" name="24 个真实样本的隐藏值、得分与类别">
            <a:extLst xmlns:a="http://schemas.openxmlformats.org/drawingml/2006/main">
              <a:ext uri="{FF2B5EF4-FFF2-40B4-BE49-F238E27FC236}">
                <a16:creationId xmlns:a16="http://schemas.microsoft.com/office/drawing/2014/main" id="{6D0CD36C-310B-433D-9BC8-C27628F4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657850"/>
            <a:ext cx="4810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24 个真实样本的隐藏值、得分与类别</a:t>
            </a:r>
          </a:p>
        </p:txBody>
      </p:sp>
    </p:spTree>
    <p:extLst>
      <p:ext uri="{BB962C8B-B14F-4D97-AF65-F5344CB8AC3E}">
        <p14:creationId xmlns:p14="http://schemas.microsoft.com/office/powerpoint/2010/main" val="18904722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最终面积与实现特点">
            <a:extLst xmlns:a="http://schemas.openxmlformats.org/drawingml/2006/main">
              <a:ext uri="{FF2B5EF4-FFF2-40B4-BE49-F238E27FC236}">
                <a16:creationId xmlns:a16="http://schemas.microsoft.com/office/drawing/2014/main" id="{09C48063-1694-45B7-8A95-5DBA70FA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最终面积与实现特点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2DDB31CD-9C29-46F0-AA76-5938607A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0F83B2CE-86B2-4A33-B899-315B0323906D}"/>
              </a:ext>
            </a:extLst>
          </p:cNvPr>
          <p:cNvGraphicFramePr/>
          <p:nvPr/>
        </p:nvGraphicFramePr>
        <p:xfrm>
          <a:off xmlns:a="http://schemas.openxmlformats.org/drawingml/2006/main" x="523875" y="1409700"/>
          <a:ext xmlns:a="http://schemas.openxmlformats.org/drawingml/2006/main" cx="7381875" cy="4133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3e7cb62d714265"/>
          </a:graphicData>
        </a:graphic>
      </p:graphicFrame>
      <p:sp>
        <p:nvSpPr>
          <p:cNvPr id="4" name="4.737554 mm²">
            <a:extLst xmlns:a="http://schemas.openxmlformats.org/drawingml/2006/main">
              <a:ext uri="{FF2B5EF4-FFF2-40B4-BE49-F238E27FC236}">
                <a16:creationId xmlns:a16="http://schemas.microsoft.com/office/drawing/2014/main" id="{401B9612-E431-451D-B4DF-B1B535F9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525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4.737554 mm²</a:t>
            </a:r>
          </a:p>
        </p:txBody>
      </p:sp>
      <p:sp>
        <p:nvSpPr>
          <p:cNvPr id="5" name="逻辑加主 SRAM&#10;排除 filler / tap">
            <a:extLst xmlns:a="http://schemas.openxmlformats.org/drawingml/2006/main">
              <a:ext uri="{FF2B5EF4-FFF2-40B4-BE49-F238E27FC236}">
                <a16:creationId xmlns:a16="http://schemas.microsoft.com/office/drawing/2014/main" id="{63E0C95F-9699-43F0-A773-4ED6904C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526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逻辑加主 SRAM</a:t>
            </a:r>
          </a:p>
          <a:p xmlns:a="http://schemas.openxmlformats.org/drawingml/2006/main">
            <a:pPr>
              <a:defRPr sz="195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排除 filler / tap</a:t>
            </a:r>
          </a:p>
        </p:txBody>
      </p:sp>
      <p:sp>
        <p:nvSpPr>
          <p:cNvPr id="6" name="11.562176 mm²">
            <a:extLst xmlns:a="http://schemas.openxmlformats.org/drawingml/2006/main">
              <a:ext uri="{FF2B5EF4-FFF2-40B4-BE49-F238E27FC236}">
                <a16:creationId xmlns:a16="http://schemas.microsoft.com/office/drawing/2014/main" id="{8DB68758-BB60-4333-B021-5855CA76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14725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11.562176 mm²</a:t>
            </a:r>
          </a:p>
        </p:txBody>
      </p:sp>
      <p:sp>
        <p:nvSpPr>
          <p:cNvPr id="7" name="Die 外框面积">
            <a:extLst xmlns:a="http://schemas.openxmlformats.org/drawingml/2006/main">
              <a:ext uri="{FF2B5EF4-FFF2-40B4-BE49-F238E27FC236}">
                <a16:creationId xmlns:a16="http://schemas.microsoft.com/office/drawing/2014/main" id="{D88DCE26-24FA-4F5A-99CF-A86E759F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052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Die 外框面积</a:t>
            </a:r>
          </a:p>
        </p:txBody>
      </p:sp>
      <p:sp>
        <p:nvSpPr>
          <p:cNvPr id="8" name="9.610992 mm²">
            <a:extLst xmlns:a="http://schemas.openxmlformats.org/drawingml/2006/main">
              <a:ext uri="{FF2B5EF4-FFF2-40B4-BE49-F238E27FC236}">
                <a16:creationId xmlns:a16="http://schemas.microsoft.com/office/drawing/2014/main" id="{AC87EF0E-9E71-4DD0-8B25-1BF7F6F6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48225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9.610992 mm²</a:t>
            </a:r>
          </a:p>
        </p:txBody>
      </p:sp>
      <p:sp>
        <p:nvSpPr>
          <p:cNvPr id="9" name="Core 外框面积">
            <a:extLst xmlns:a="http://schemas.openxmlformats.org/drawingml/2006/main">
              <a:ext uri="{FF2B5EF4-FFF2-40B4-BE49-F238E27FC236}">
                <a16:creationId xmlns:a16="http://schemas.microsoft.com/office/drawing/2014/main" id="{7A475208-57CC-4BBE-9DE0-FBB76376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4387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Core 外框面积</a:t>
            </a:r>
          </a:p>
        </p:txBody>
      </p:sp>
      <p:sp>
        <p:nvSpPr>
          <p:cNvPr id="10" name="数据按最终 DEF / LEF 几何计算，与综合映射面积口径">
            <a:extLst xmlns:a="http://schemas.openxmlformats.org/drawingml/2006/main">
              <a:ext uri="{FF2B5EF4-FFF2-40B4-BE49-F238E27FC236}">
                <a16:creationId xmlns:a16="http://schemas.microsoft.com/office/drawing/2014/main" id="{2C2B18E7-8C73-4104-BB19-585026A4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rPr>
              <a:t>数据按最终 DEF / LEF 几何计算，与综合映射面积口径不同</a:t>
            </a:r>
          </a:p>
        </p:txBody>
      </p:sp>
    </p:spTree>
    <p:extLst>
      <p:ext uri="{BB962C8B-B14F-4D97-AF65-F5344CB8AC3E}">
        <p14:creationId xmlns:p14="http://schemas.microsoft.com/office/powerpoint/2010/main" val="11287245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验证边界与后续工作">
            <a:extLst xmlns:a="http://schemas.openxmlformats.org/drawingml/2006/main">
              <a:ext uri="{FF2B5EF4-FFF2-40B4-BE49-F238E27FC236}">
                <a16:creationId xmlns:a16="http://schemas.microsoft.com/office/drawing/2014/main" id="{165D65AD-CA61-4D24-822E-A7105EA2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验证边界与后续工作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3ACB88A9-C18C-41BF-B163-9ABDEF4C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当前结论">
            <a:extLst xmlns:a="http://schemas.openxmlformats.org/drawingml/2006/main">
              <a:ext uri="{FF2B5EF4-FFF2-40B4-BE49-F238E27FC236}">
                <a16:creationId xmlns:a16="http://schemas.microsoft.com/office/drawing/2014/main" id="{91FE818C-9844-4857-862D-0FA97EC6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当前结论</a:t>
            </a:r>
          </a:p>
        </p:txBody>
      </p:sp>
      <p:sp>
        <p:nvSpPr>
          <p:cNvPr id="4" name="课程 TSMC180 TT，原生 RC 提取&#10;明确的 1 µ">
            <a:extLst xmlns:a="http://schemas.openxmlformats.org/drawingml/2006/main">
              <a:ext uri="{FF2B5EF4-FFF2-40B4-BE49-F238E27FC236}">
                <a16:creationId xmlns:a16="http://schemas.microsoft.com/office/drawing/2014/main" id="{1E67D05F-E786-4072-900D-C366E12D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4857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课程 TSMC180 TT，原生 RC 提取</a:t>
            </a:r>
          </a:p>
          <a:p xmlns:a="http://schemas.openxmlformats.org/drawingml/2006/main">
            <a: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明确的 1 µs 先复位后起钟协议</a:t>
            </a:r>
          </a:p>
          <a:p xmlns:a="http://schemas.openxmlformats.org/drawingml/2006/main">
            <a: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负传播延时采用有记录的 GLS 近似</a:t>
            </a:r>
          </a:p>
        </p:txBody>
      </p:sp>
      <p:sp>
        <p:nvSpPr>
          <p:cNvPr id="5" name="下一步">
            <a:extLst xmlns:a="http://schemas.openxmlformats.org/drawingml/2006/main">
              <a:ext uri="{FF2B5EF4-FFF2-40B4-BE49-F238E27FC236}">
                <a16:creationId xmlns:a16="http://schemas.microsoft.com/office/drawing/2014/main" id="{12E284CE-D5DE-4279-88E3-08F70AF2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3811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6" name="其他 PVT 条件与完整时序检查&#10;CDC / RDC 与形式">
            <a:extLst xmlns:a="http://schemas.openxmlformats.org/drawingml/2006/main">
              <a:ext uri="{FF2B5EF4-FFF2-40B4-BE49-F238E27FC236}">
                <a16:creationId xmlns:a16="http://schemas.microsoft.com/office/drawing/2014/main" id="{9A7B343F-7579-41A0-8C2E-2D7E7A3D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66925"/>
            <a:ext cx="4857750" cy="2200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其他 PVT 条件与完整时序检查</a:t>
            </a:r>
          </a:p>
          <a:p xmlns:a="http://schemas.openxmlformats.org/drawingml/2006/main">
            <a: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CDC / RDC 与形式等价</a:t>
            </a:r>
          </a:p>
          <a:p xmlns:a="http://schemas.openxmlformats.org/drawingml/2006/main">
            <a: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独立 foundry DRC / LVS</a:t>
            </a:r>
          </a:p>
          <a:p xmlns:a="http://schemas.openxmlformats.org/drawingml/2006/main">
            <a:pPr>
              <a:def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IR / EM / ESD 与板级启动验证</a:t>
            </a:r>
          </a:p>
        </p:txBody>
      </p:sp>
      <p:sp>
        <p:nvSpPr>
          <p:cNvPr id="7" name="若产品要求上电即自由运行时钟，优先完善复位与时钟门控初始化保">
            <a:extLst xmlns:a="http://schemas.openxmlformats.org/drawingml/2006/main">
              <a:ext uri="{FF2B5EF4-FFF2-40B4-BE49-F238E27FC236}">
                <a16:creationId xmlns:a16="http://schemas.microsoft.com/office/drawing/2014/main" id="{E7870746-3084-4E9B-902A-0D5291DB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若产品要求上电即自由运行时钟，优先完善复位与时钟门控初始化保障</a:t>
            </a:r>
          </a:p>
        </p:txBody>
      </p:sp>
      <p:sp>
        <p:nvSpPr>
          <p:cNvPr id="8" name="当前结果支持课程阶段的完整物理实现与后仿验收，后续仍需产品级">
            <a:extLst xmlns:a="http://schemas.openxmlformats.org/drawingml/2006/main">
              <a:ext uri="{FF2B5EF4-FFF2-40B4-BE49-F238E27FC236}">
                <a16:creationId xmlns:a16="http://schemas.microsoft.com/office/drawing/2014/main" id="{E51D664B-31DC-44E3-AFF9-A5814EFC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rPr>
              <a:t>当前结果支持课程阶段的完整物理实现与后仿验收，后续仍需产品级签核</a:t>
            </a:r>
          </a:p>
        </p:txBody>
      </p:sp>
    </p:spTree>
    <p:extLst>
      <p:ext uri="{BB962C8B-B14F-4D97-AF65-F5344CB8AC3E}">
        <p14:creationId xmlns:p14="http://schemas.microsoft.com/office/powerpoint/2010/main" val="158710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交付物与复现">
            <a:extLst xmlns:a="http://schemas.openxmlformats.org/drawingml/2006/main">
              <a:ext uri="{FF2B5EF4-FFF2-40B4-BE49-F238E27FC236}">
                <a16:creationId xmlns:a16="http://schemas.microsoft.com/office/drawing/2014/main" id="{88466680-6429-430B-8655-DBF9C945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交付物与复现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CB29525E-7DDE-4E36-A836-B85B2849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667B2-9F83-4081-9A59-F945A711C91A}"/>
              </a:ext>
            </a:extLst>
          </p:cNvPr>
          <p:cNvGraphicFramePr/>
          <p:nvPr/>
        </p:nvGraphicFramePr>
        <p:xfrm>
          <a:off xmlns:a="http://schemas.openxmlformats.org/drawingml/2006/main" x="609600" y="143827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00300"/>
                <a:gridCol w="8572500"/>
              </a:tblGrid>
              <a:tr h="6667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152400" marR="152400" marT="114300" marB="95250">
                    <a:lnL w="6668">
                      <a:solidFill>
                        <a:srgbClr val="D5E0E7"/>
                      </a:solidFill>
                      <a:prstDash val="solid"/>
                    </a:lnL>
                    <a:lnR w="6668">
                      <a:solidFill>
                        <a:srgbClr val="D5E0E7"/>
                      </a:solidFill>
                      <a:prstDash val="solid"/>
                    </a:lnR>
                    <a:lnT w="6668">
                      <a:solidFill>
                        <a:srgbClr val="D5E0E7"/>
                      </a:solidFill>
                      <a:prstDash val="solid"/>
                    </a:lnT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15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已保存的内容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T w="6668">
                      <a:solidFill>
                        <a:srgbClr val="D5E0E7"/>
                      </a:solidFill>
                      <a:prstDash val="solid"/>
                    </a:lnT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152B4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设计结果</a:t>
                      </a:r>
                    </a:p>
                  </a:txBody>
                  <a:tcPr marL="152400" marR="152400" marT="114300" marB="95250">
                    <a:lnL w="6668">
                      <a:solidFill>
                        <a:srgbClr val="D5E0E7"/>
                      </a:solidFill>
                      <a:prstDash val="solid"/>
                    </a:lnL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最终网表、DEF / GDS、SDC、SPEF / SDF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恢复与脚本</a:t>
                      </a:r>
                    </a:p>
                  </a:txBody>
                  <a:tcPr marL="152400" marR="152400" marT="114300" marB="95250">
                    <a:lnL w="6668">
                      <a:solidFill>
                        <a:srgbClr val="D5E0E7"/>
                      </a:solidFill>
                      <a:prstDash val="solid"/>
                    </a:lnL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各阶段数据库、上下文、综合 / PNR / 后仿入口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验证证据</a:t>
                      </a:r>
                    </a:p>
                  </a:txBody>
                  <a:tcPr marL="152400" marR="152400" marT="114300" marB="95250">
                    <a:lnL w="6668">
                      <a:solidFill>
                        <a:srgbClr val="D5E0E7"/>
                      </a:solidFill>
                      <a:prstDash val="solid"/>
                    </a:lnL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四组真实后仿日志、JTAG 记录、独立审计与版图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完整性</a:t>
                      </a:r>
                    </a:p>
                  </a:txBody>
                  <a:tcPr marL="152400" marR="152400" marT="114300" marB="95250">
                    <a:lnL w="6668">
                      <a:solidFill>
                        <a:srgbClr val="D5E0E7"/>
                      </a:solidFill>
                      <a:prstDash val="solid"/>
                    </a:lnL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1613 份文件逐一核对，301 份冻结物理输出一致</a:t>
                      </a:r>
                    </a:p>
                  </a:txBody>
                  <a:tcPr marL="152400" marR="152400" marT="114300" marB="95250">
                    <a:lnR w="6668">
                      <a:solidFill>
                        <a:srgbClr val="D5E0E7"/>
                      </a:solidFill>
                      <a:prstDash val="solid"/>
                    </a:lnR>
                    <a:lnB w="6668">
                      <a:solidFill>
                        <a:srgbClr val="D5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复现入口">
            <a:extLst xmlns:a="http://schemas.openxmlformats.org/drawingml/2006/main">
              <a:ext uri="{FF2B5EF4-FFF2-40B4-BE49-F238E27FC236}">
                <a16:creationId xmlns:a16="http://schemas.microsoft.com/office/drawing/2014/main" id="{7FF1F66D-7475-464B-B72B-C3539747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复现入口</a:t>
            </a:r>
          </a:p>
        </p:txBody>
      </p:sp>
      <p:sp>
        <p:nvSpPr>
          <p:cNvPr id="5" name="eda/pnr/run_pnr.py&#10;eda/pnr/run">
            <a:extLst xmlns:a="http://schemas.openxmlformats.org/drawingml/2006/main">
              <a:ext uri="{FF2B5EF4-FFF2-40B4-BE49-F238E27FC236}">
                <a16:creationId xmlns:a16="http://schemas.microsoft.com/office/drawing/2014/main" id="{03C64483-6DEE-47D3-8261-A7B4C8FB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6953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eda/pnr/run_pnr.py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2B43"/>
                </a:solidFill>
                <a:latin typeface="Microsoft YaHei"/>
                <a:ea typeface="Microsoft YaHei"/>
                <a:cs typeface="Microsoft YaHei"/>
              </a:rPr>
              <a:t>eda/pnr/run_postroute_parallel.py</a:t>
            </a:r>
          </a:p>
        </p:txBody>
      </p:sp>
      <p:sp>
        <p:nvSpPr>
          <p:cNvPr id="6" name="恢复数据库前需授权回填&#10;清单列出的 130 项工艺库引用">
            <a:extLst xmlns:a="http://schemas.openxmlformats.org/drawingml/2006/main">
              <a:ext uri="{FF2B5EF4-FFF2-40B4-BE49-F238E27FC236}">
                <a16:creationId xmlns:a16="http://schemas.microsoft.com/office/drawing/2014/main" id="{9224E495-7E7A-4384-8844-16003097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638800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rPr>
              <a:t>恢复数据库前需授权回填</a:t>
            </a:r>
          </a:p>
          <a:p xmlns:a="http://schemas.openxmlformats.org/drawingml/2006/main">
            <a:pPr>
              <a:defRPr sz="1800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B542C"/>
                </a:solidFill>
                <a:latin typeface="Microsoft YaHei"/>
                <a:ea typeface="Microsoft YaHei"/>
                <a:cs typeface="Microsoft YaHei"/>
              </a:rPr>
              <a:t>清单列出的 130 项工艺库引用</a:t>
            </a:r>
          </a:p>
        </p:txBody>
      </p:sp>
    </p:spTree>
    <p:extLst>
      <p:ext uri="{BB962C8B-B14F-4D97-AF65-F5344CB8AC3E}">
        <p14:creationId xmlns:p14="http://schemas.microsoft.com/office/powerpoint/2010/main" val="3385286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2026-10-21T13:27:01.2160000Z</dcterms:created>
  <dcterms:modified xsi:type="dcterms:W3CDTF">2026-10-21T13:27:01.2160000Z</dcterms:modified>
</coreProperties>
</file>